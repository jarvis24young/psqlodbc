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df7d98516348a4" /><Relationship Type="http://schemas.openxmlformats.org/officeDocument/2006/relationships/extended-properties" Target="/docProps/app.xml" Id="R50e5c31717104110" /><Relationship Type="http://schemas.openxmlformats.org/officeDocument/2006/relationships/officeDocument" Target="/ppt/presentation.xml" Id="Rc5ca91e9887a48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bf29256e64493c"/>
  </p:sldMasterIdLst>
  <p:notesMasterIdLst>
    <p:notesMasterId xmlns:r="http://schemas.openxmlformats.org/officeDocument/2006/relationships" r:id="R97da269dd2ce4016"/>
  </p:notesMasterIdLst>
  <p:sldIdLst>
    <p:sldId xmlns:r="http://schemas.openxmlformats.org/officeDocument/2006/relationships" id="256" r:id="R46e313ba48134883"/>
    <p:sldId xmlns:r="http://schemas.openxmlformats.org/officeDocument/2006/relationships" id="257" r:id="R86f838e2081f4d31"/>
    <p:sldId xmlns:r="http://schemas.openxmlformats.org/officeDocument/2006/relationships" id="258" r:id="Re5c0000f782143ca"/>
    <p:sldId xmlns:r="http://schemas.openxmlformats.org/officeDocument/2006/relationships" id="259" r:id="R0879b740988a41b5"/>
    <p:sldId xmlns:r="http://schemas.openxmlformats.org/officeDocument/2006/relationships" id="260" r:id="R0333f0b5c27e474b"/>
    <p:sldId xmlns:r="http://schemas.openxmlformats.org/officeDocument/2006/relationships" id="261" r:id="Rcf22545511ab42aa"/>
    <p:sldId xmlns:r="http://schemas.openxmlformats.org/officeDocument/2006/relationships" id="262" r:id="R8ea00555d87d4de4"/>
    <p:sldId xmlns:r="http://schemas.openxmlformats.org/officeDocument/2006/relationships" id="263" r:id="R239aba1f47b84dcd"/>
    <p:sldId xmlns:r="http://schemas.openxmlformats.org/officeDocument/2006/relationships" id="264" r:id="Rd226fee7648648e0"/>
    <p:sldId xmlns:r="http://schemas.openxmlformats.org/officeDocument/2006/relationships" id="265" r:id="R1c12de0738ee497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bf29256e64493c" /><Relationship Type="http://schemas.openxmlformats.org/officeDocument/2006/relationships/theme" Target="/ppt/theme/theme1.xml" Id="R6e41ea42128646a5" /><Relationship Type="http://schemas.openxmlformats.org/officeDocument/2006/relationships/notesMaster" Target="/ppt/notesMasters/notesMaster1.xml" Id="R97da269dd2ce4016" /><Relationship Type="http://schemas.openxmlformats.org/officeDocument/2006/relationships/presProps" Target="/ppt/presProps.xml" Id="R544beec5c2ee41f4" /><Relationship Type="http://schemas.openxmlformats.org/officeDocument/2006/relationships/viewProps" Target="/ppt/viewProps.xml" Id="R0303338db1c143fe" /><Relationship Type="http://schemas.openxmlformats.org/officeDocument/2006/relationships/tableStyles" Target="/ppt/tableStyles.xml" Id="R4526a17dbf744f25" /><Relationship Type="http://schemas.openxmlformats.org/officeDocument/2006/relationships/slide" Target="/ppt/slides/slide1.xml" Id="R46e313ba48134883" /><Relationship Type="http://schemas.openxmlformats.org/officeDocument/2006/relationships/slide" Target="/ppt/slides/slide2.xml" Id="R86f838e2081f4d31" /><Relationship Type="http://schemas.openxmlformats.org/officeDocument/2006/relationships/slide" Target="/ppt/slides/slide3.xml" Id="Re5c0000f782143ca" /><Relationship Type="http://schemas.openxmlformats.org/officeDocument/2006/relationships/slide" Target="/ppt/slides/slide4.xml" Id="R0879b740988a41b5" /><Relationship Type="http://schemas.openxmlformats.org/officeDocument/2006/relationships/slide" Target="/ppt/slides/slide5.xml" Id="R0333f0b5c27e474b" /><Relationship Type="http://schemas.openxmlformats.org/officeDocument/2006/relationships/slide" Target="/ppt/slides/slide6.xml" Id="Rcf22545511ab42aa" /><Relationship Type="http://schemas.openxmlformats.org/officeDocument/2006/relationships/slide" Target="/ppt/slides/slide7.xml" Id="R8ea00555d87d4de4" /><Relationship Type="http://schemas.openxmlformats.org/officeDocument/2006/relationships/slide" Target="/ppt/slides/slide8.xml" Id="R239aba1f47b84dcd" /><Relationship Type="http://schemas.openxmlformats.org/officeDocument/2006/relationships/slide" Target="/ppt/slides/slide9.xml" Id="Rd226fee7648648e0" /><Relationship Type="http://schemas.openxmlformats.org/officeDocument/2006/relationships/slide" Target="/ppt/slides/slide10.xml" Id="R1c12de0738ee49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f37dd41c4eb43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683c4579c44fc8" /><Relationship Type="http://schemas.openxmlformats.org/officeDocument/2006/relationships/notesMaster" Target="/ppt/notesMasters/notesMaster1.xml" Id="R9cdfab2262a546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3528e6d723421a" /><Relationship Type="http://schemas.openxmlformats.org/officeDocument/2006/relationships/notesMaster" Target="/ppt/notesMasters/notesMaster1.xml" Id="Rd13938cbcfbb46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8bb94366ee4632" /><Relationship Type="http://schemas.openxmlformats.org/officeDocument/2006/relationships/notesMaster" Target="/ppt/notesMasters/notesMaster1.xml" Id="R3fdd546d80d442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604c0e678444f1" /><Relationship Type="http://schemas.openxmlformats.org/officeDocument/2006/relationships/notesMaster" Target="/ppt/notesMasters/notesMaster1.xml" Id="R8779725235e24a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b15212c9c043e7" /><Relationship Type="http://schemas.openxmlformats.org/officeDocument/2006/relationships/notesMaster" Target="/ppt/notesMasters/notesMaster1.xml" Id="Rf3c199e0565048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b56c9fa22f48a5" /><Relationship Type="http://schemas.openxmlformats.org/officeDocument/2006/relationships/notesMaster" Target="/ppt/notesMasters/notesMaster1.xml" Id="Ref1e8330cde443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09324318a74535" /><Relationship Type="http://schemas.openxmlformats.org/officeDocument/2006/relationships/notesMaster" Target="/ppt/notesMasters/notesMaster1.xml" Id="Rd2b153fa5fb746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83995071604600" /><Relationship Type="http://schemas.openxmlformats.org/officeDocument/2006/relationships/notesMaster" Target="/ppt/notesMasters/notesMaster1.xml" Id="R91fe898572a7416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c2bf8ec80b4bab" /><Relationship Type="http://schemas.openxmlformats.org/officeDocument/2006/relationships/notesMaster" Target="/ppt/notesMasters/notesMaster1.xml" Id="R4fda7012fe2f457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bff004bfa04412" /><Relationship Type="http://schemas.openxmlformats.org/officeDocument/2006/relationships/notesMaster" Target="/ppt/notesMasters/notesMaster1.xml" Id="R518d536d2de845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今天分享的是一套从真实工程问题中长出来的 AI 辅助质量实践。它不是单纯让 AI 写代码，而是把测试设计、真实驱动验证、覆盖率证据、开源社区协作和本地风险分析连接起来。整场分享有两条主线：第一条是怎样借助 AI 和覆盖率挖出并修复驱动问题；第二条是怎样把社区已经验证过的修复，持续转化为 GaussDB 本地的质量情报。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大家本身都在驱动领域，所以这里不再解释为什么驱动重要，直接看整套实践。前半段是主动挖掘：从源码和覆盖率线索出发，借助 Skill 设计 DT，通过真实驱动、Sanitizer 和 gcov/lcov 找到确定性问题，再完成修复和回归。这个过程已经形成 11 个被 psqlODBC 上游合入的 Bug Fix。后半段是持续感知：把社区已经合入的修复自动采集下来，映射到 GaussDB 本地代码，用规则和 AI 分析形成风险台账。前半段向社区输出修复，后半段让社区修复反向服务本地质量，最终形成闭环。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这里需要把 Skill 讲清楚。它不是一个长 Prompt，而是一套带触发条件、参考知识、固定脚本和验收标准的工程流水线。输入可以是一个目标函数、一个 gcov 未覆盖分支，或者这个边界输入会不会 crash。Skill 先读取源码并枚举分支，再建立 TC-Branch 矩阵，构造能触发前置状态的公共 ODBC API 用例。中间的执行不是 AI 猜测：wsl-bootstrap.sh 固定 WSL、PostgreSQL 和 unixODBC 环境，build-with-gcov.sh 构建真实驱动，run-coverage.sh 运行测试并产出 gcov/lcov。AI 负责大规模梳理与迭代，工程师在目标选择、路径可达性和修复正确性三个位置把关。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我们用一个已经被社区合入的真实案例走完整条链路。分析 SC_scanQueryAndCountParams 时，Skill 发现字符串字面量分支会检查 E 前缀，但当 SQL 第一个字符就是单引号时，当前位置仍在缓冲区起点。于是构造最小公共 API 调用：先 SQLPrepare 一个只包含字符串字面量的 SQL，再调用 SQLNumParams。这个用例经过 unixODBC 调用真实驱动，ASan 在 statement.c:1125 报告一字节 heap-buffer-overflow。修复只增加必要的边界保护，并把同类三个扫描路径一起处理。回归测试通过后，PR #185 在 2026 年 5 月 16 日被 psqlODBC 上游合入。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这套方法最终不是停留在内部试验，而是在 psqlODBC 社区形成了可验证成果：11 个 Bug Fix PR 已经被上游合入。这里的统计口径只看 merged，不把未合入提交算入成果。这些问题覆盖内存安全、UTF-16 校验、SQLPutData 长度、游标名、描述符字段、资源释放和日志敏感信息等类型。社区合入意味着修复逻辑、测试证据和工程质量通过了上游维护者审查。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当我们在社区里不断发现问题后，一个自然的问题是：上游已经修复过的缺陷，GaussDB 本地是否仍然存在同源或变体风险？Driver Quality Radar 就是为了解决这个问题。从左到右看，系统先采集 merged PR，再解析 Patch 和函数信息，映射到本地源码。确定性场景由规则引擎快速判断，复杂差异再交给 AI 专家分析。最终输出不是一句结论，而是风险等级、文件、行号、代码证据和建议动作。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这张图是实际运行的 Dashboard。平台已经拉取 104 个社区 merged PR，并对其中一部分完成结构化分析。列表可以按 HIGH、MEDIUM、已修复等状态筛选，每个 PR 都能继续进入详细证据。这一步的意义是把过去散落在个人笔记、聊天记录和临时搜索中的排查结果，变成团队可查看、可筛选、可复核的质量台账。风险等级是待复核线索，不直接等同于最终确认缺陷。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人工分析一个 PR，通常需要阅读描述、看 Patch、搜索本地代码并整理证据。平台在规则命中时可以压缩到秒级，复杂场景含 AI 分析通常在几十秒到一分多钟。批量处理一百个 PR，则从多人时级工作变成后台可周期执行的任务。更重要的收益不是单纯节省时间，而是把时间从搜索和材料整理转移到复核、决策和修复，让风险在客户暴露前被看见。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这套方法并不只适用于 psqlODBC。测试工作流可以扩展到 JDBC、libpq 和客户端工具；风险信号也可以从 merged PR 扩展到 issue、release note、CVE 和邮件列表补丁。团队落地可以从每周扫描开始，再进入版本发布前报告、缺陷模式库和持续预警。平台已经考虑了内网模型、代理、Token 脱敏、配置导入和本地部署，为小范围试点提供了工程基础。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最后总结四层价值。第一层，用 AI 辅助 Design Test 和真实覆盖率挖出驱动问题；第二层，把高质量修复贡献给上游社区，获得真实合入验证；第三层，再把社区修复经验反向输入 GaussDB 本地质量治理；第四层，把个人实践固化为团队机制。AI 在这里最合适的角色不是替代研发，而是质量情报分析员和证据链整理员。希望这套实践能在团队里复制：让工程师少花时间搜索和整理，把更多时间放在判断、修复和闭环上。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81a09b639e40e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0176ecb11734032" /><Relationship Type="http://schemas.openxmlformats.org/officeDocument/2006/relationships/slideLayout" Target="/ppt/slideLayouts/slideLayout2.xml" Id="R3c2d07c2238c43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2d07c2238c43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cf7e04cd8d4472" /><Relationship Type="http://schemas.openxmlformats.org/officeDocument/2006/relationships/notesSlide" Target="/ppt/notesSlides/notesSlide1.xml" Id="Re86454339dd646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1749c7910641b2" /><Relationship Type="http://schemas.openxmlformats.org/officeDocument/2006/relationships/notesSlide" Target="/ppt/notesSlides/notesSlide2.xml" Id="R1b9924d77a3746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13aabf5bf943f0" /><Relationship Type="http://schemas.openxmlformats.org/officeDocument/2006/relationships/notesSlide" Target="/ppt/notesSlides/notesSlide3.xml" Id="R429768a0c3dd4a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ee4f34c98b4fc4" /><Relationship Type="http://schemas.openxmlformats.org/officeDocument/2006/relationships/notesSlide" Target="/ppt/notesSlides/notesSlide4.xml" Id="R85b89996b6ac45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e00635e7ac46ed" /><Relationship Type="http://schemas.openxmlformats.org/officeDocument/2006/relationships/notesSlide" Target="/ppt/notesSlides/notesSlide5.xml" Id="R2d931bdd345444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5bde6ff9fe4bdd" /><Relationship Type="http://schemas.openxmlformats.org/officeDocument/2006/relationships/notesSlide" Target="/ppt/notesSlides/notesSlide6.xml" Id="R62b71502944b41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16c64ca1ea44bc" /><Relationship Type="http://schemas.openxmlformats.org/officeDocument/2006/relationships/image" Target="/ppt/media/image.png" Id="Rc3d5778fca9c4d72" /><Relationship Type="http://schemas.openxmlformats.org/officeDocument/2006/relationships/notesSlide" Target="/ppt/notesSlides/notesSlide7.xml" Id="Rb507b09c8cb249a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574576e616488b" /><Relationship Type="http://schemas.openxmlformats.org/officeDocument/2006/relationships/image" Target="/ppt/media/image2.png" Id="R45a927a5703f4a98" /><Relationship Type="http://schemas.openxmlformats.org/officeDocument/2006/relationships/notesSlide" Target="/ppt/notesSlides/notesSlide8.xml" Id="R28abb47b87d241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60233504a747a9" /><Relationship Type="http://schemas.openxmlformats.org/officeDocument/2006/relationships/image" Target="/ppt/media/image3.png" Id="R1bb74e2dd03e498a" /><Relationship Type="http://schemas.openxmlformats.org/officeDocument/2006/relationships/notesSlide" Target="/ppt/notesSlides/notesSlide9.xml" Id="Rb9ceb6fc9ab342b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63ad75d16f41dd" /><Relationship Type="http://schemas.openxmlformats.org/officeDocument/2006/relationships/notesSlide" Target="/ppt/notesSlides/notesSlide10.xml" Id="R30a6ce5ab0f44f1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5822F140-8399-4F58-BF18-B2037330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43DF92DB-72B4-4E74-A864-CCA09D4B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7BBB8-4AF1-4B40-8447-9820DC5F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4476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602019-EC39-4FFB-8DD0-E0D1218C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9D1C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9D1CC"/>
                </a:solidFill>
                <a:latin typeface="Arial"/>
                <a:ea typeface="Arial"/>
                <a:cs typeface="Arial"/>
              </a:rPr>
              <a:t>AI ASSISTED DRIVER QUALITY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61B827-30F8-4678-B446-23773258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43000"/>
            <a:ext cx="3524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辅助驱动 Bug</a:t>
            </a:r>
          </a:p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挖掘、修复与社区贡献实践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7A1EB3-BC4C-425C-8D58-9CA6CA28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E5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7E5F6"/>
                </a:solidFill>
                <a:latin typeface="Microsoft YaHei"/>
                <a:ea typeface="Microsoft YaHei"/>
                <a:cs typeface="Microsoft YaHei"/>
              </a:rPr>
              <a:t>从覆盖率驱动测试到上游风险智能感知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ABC558-5B38-49F8-A12B-90C4B029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91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73595B-9D7F-4EA7-BB18-88F86534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29100"/>
            <a:ext cx="3333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5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7E5F6"/>
                </a:solidFill>
                <a:latin typeface="Microsoft YaHei"/>
                <a:ea typeface="Microsoft YaHei"/>
                <a:cs typeface="Microsoft YaHei"/>
              </a:rPr>
              <a:t>华为杭州研究所 · 驱动团队知识分享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4DF136-7B1E-451D-9935-865E37E9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53125"/>
            <a:ext cx="3524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9D1C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9D1CC"/>
                </a:solidFill>
                <a:latin typeface="Arial"/>
                <a:ea typeface="Arial"/>
                <a:cs typeface="Arial"/>
              </a:rPr>
              <a:t>ODBC  ·  AI Skill  ·  开源社区  ·  质量闭环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1FC3E0-EF9D-44D0-95D3-C06E4939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628650"/>
            <a:ext cx="590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一条可复制的工程闭环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D19940-B518-4E15-BA1C-A909E939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143000"/>
            <a:ext cx="561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38A"/>
                </a:solidFill>
                <a:latin typeface="Microsoft YaHei"/>
                <a:ea typeface="Microsoft YaHei"/>
                <a:cs typeface="Microsoft YaHei"/>
              </a:rPr>
              <a:t>主动挖掘产生社区修复，社区修复再反哺本地质量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E61D53-265B-4C47-9F72-DD075F1F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95500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11430">
            <a:solidFill>
              <a:srgbClr val="1E5AA8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  <a:p xmlns:a="http://schemas.openxmlformats.org/drawingml/2006/main">
            <a:pPr algn="ctr">
              <a:defRPr sz="18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Bug 挖掘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8321CD-711E-4F5B-8739-59F38B4D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95500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3"/>
          </a:solidFill>
          <a:ln xmlns:a="http://schemas.openxmlformats.org/drawingml/2006/main" w="11430">
            <a:solidFill>
              <a:srgbClr val="0E8A88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E8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E8A8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  <a:p xmlns:a="http://schemas.openxmlformats.org/drawingml/2006/main">
            <a:pPr algn="ctr">
              <a:defRPr sz="1800" b="1">
                <a:solidFill>
                  <a:srgbClr val="0E8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E8A88"/>
                </a:solidFill>
                <a:latin typeface="Microsoft YaHei"/>
                <a:ea typeface="Microsoft YaHei"/>
                <a:cs typeface="Microsoft YaHei"/>
              </a:rPr>
              <a:t>修复验证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E1C6BE-AFDD-47CA-BE68-C1C968A0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81500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EF"/>
          </a:solidFill>
          <a:ln xmlns:a="http://schemas.openxmlformats.org/drawingml/2006/main" w="11430">
            <a:solidFill>
              <a:srgbClr val="16845B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8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845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  <a:p xmlns:a="http://schemas.openxmlformats.org/drawingml/2006/main">
            <a:pPr algn="ctr">
              <a:defRPr sz="1800" b="1">
                <a:solidFill>
                  <a:srgbClr val="168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845B"/>
                </a:solidFill>
                <a:latin typeface="Microsoft YaHei"/>
                <a:ea typeface="Microsoft YaHei"/>
                <a:cs typeface="Microsoft YaHei"/>
              </a:rPr>
              <a:t>社区合入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BBB70A-09AD-4300-9EC3-CFC98ACE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B2F6B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  <a:p xmlns:a="http://schemas.openxmlformats.org/drawingml/2006/main">
            <a:pPr algn="ctr">
              <a:defRPr sz="18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风险雷达</a:t>
            </a:r>
          </a:p>
        </p:txBody>
      </p:sp>
      <p:cxnSp>
        <p:nvCxnSpPr>
          <p:cNvPr id="16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143750" y="266700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E5AA8"/>
            </a:solidFill>
            <a:headEnd type="none" w="med" len="med"/>
          </a:ln>
        </p:spPr>
      </p:cxnSp>
      <p:cxnSp>
        <p:nvCxnSpPr>
          <p:cNvPr id="17" name=""/>
          <p:cNvCxnSpPr>
            <a:stCxn xmlns:a="http://schemas.openxmlformats.org/drawingml/2006/main" id="1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9572625" y="3238500"/>
            <a:ext cx="0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8A88"/>
            </a:solidFill>
            <a:headEnd type="none" w="med" len="med"/>
          </a:ln>
        </p:spPr>
      </p:cxnSp>
      <p:cxnSp>
        <p:nvCxnSpPr>
          <p:cNvPr id="18" name=""/>
          <p:cNvCxnSpPr>
            <a:stCxn xmlns:a="http://schemas.openxmlformats.org/drawingml/2006/main" id="14" idx="1"/>
            <a:endCxn xmlns:a="http://schemas.openxmlformats.org/drawingml/2006/main" id="15" idx="3"/>
          </p:cNvCxnSpPr>
          <p:nvPr/>
        </p:nvCxnSpPr>
        <p:spPr>
          <a:xfrm xmlns:a="http://schemas.openxmlformats.org/drawingml/2006/main" flipH="1">
            <a:off x="7143750" y="495300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6845B"/>
            </a:solidFill>
            <a:headEnd type="none" w="med" len="med"/>
          </a:ln>
        </p:spPr>
      </p:cxnSp>
      <p:cxnSp>
        <p:nvCxnSpPr>
          <p:cNvPr id="19" name=""/>
          <p:cNvCxnSpPr>
            <a:stCxn xmlns:a="http://schemas.openxmlformats.org/drawingml/2006/main" id="15" idx="0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V="1">
            <a:off x="6238875" y="3238500"/>
            <a:ext cx="0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B2F6B"/>
            </a:solidFill>
            <a:headEnd type="none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856471-D88E-4EC6-B92C-17D334D1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381375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F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10B4C7-35AE-4C02-838F-7A159FC0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381375"/>
            <a:ext cx="857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DD9972-8BE9-4A63-994F-6D9D2A11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38625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E8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8A88"/>
                </a:solidFill>
                <a:latin typeface="Microsoft YaHei"/>
                <a:ea typeface="Microsoft YaHei"/>
                <a:cs typeface="Microsoft YaHei"/>
              </a:rPr>
              <a:t>证据链</a:t>
            </a:r>
          </a:p>
        </p:txBody>
      </p:sp>
    </p:spTree>
    <p:extLst>
      <p:ext uri="{BB962C8B-B14F-4D97-AF65-F5344CB8AC3E}">
        <p14:creationId xmlns:p14="http://schemas.microsoft.com/office/powerpoint/2010/main" val="16313037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B3393F8C-D26E-4DDE-AA4D-44594AD7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8946B22B-518C-428D-9D05-6B472BA1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-2">
            <a:extLst xmlns:a="http://schemas.openxmlformats.org/drawingml/2006/main">
              <a:ext uri="{FF2B5EF4-FFF2-40B4-BE49-F238E27FC236}">
                <a16:creationId xmlns:a16="http://schemas.microsoft.com/office/drawing/2014/main" id="{5345F81D-7B0F-49AB-8373-89289E06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66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A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-2">
            <a:extLst xmlns:a="http://schemas.openxmlformats.org/drawingml/2006/main">
              <a:ext uri="{FF2B5EF4-FFF2-40B4-BE49-F238E27FC236}">
                <a16:creationId xmlns:a16="http://schemas.microsoft.com/office/drawing/2014/main" id="{9410527D-35AC-43D7-AA2E-52167CD0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8A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E8A88"/>
                </a:solidFill>
                <a:latin typeface="Arial"/>
                <a:ea typeface="Arial"/>
                <a:cs typeface="Arial"/>
              </a:rPr>
              <a:t>全景</a:t>
            </a:r>
          </a:p>
        </p:txBody>
      </p:sp>
      <p:sp>
        <p:nvSpPr>
          <p:cNvPr id="5" name="slide-title-2">
            <a:extLst xmlns:a="http://schemas.openxmlformats.org/drawingml/2006/main">
              <a:ext uri="{FF2B5EF4-FFF2-40B4-BE49-F238E27FC236}">
                <a16:creationId xmlns:a16="http://schemas.microsoft.com/office/drawing/2014/main" id="{E2E52D82-6C5F-4DE9-AA78-6144DB9C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287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一套实践连接主动挖掘与持续感知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F97D83-547F-466F-9C2D-30DC7F26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66800"/>
            <a:ext cx="1104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38A"/>
                </a:solidFill>
                <a:latin typeface="Microsoft YaHei"/>
                <a:ea typeface="Microsoft YaHei"/>
                <a:cs typeface="Microsoft YaHei"/>
              </a:rPr>
              <a:t>面向驱动组，直接看从源码线索到本地风险台账的完整链路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3FA071-54C6-43BF-8EF6-0243D327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287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54B438-D77B-4887-91D5-E231F47E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CCD6E4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源码 / 覆盖线索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未覆盖分支</a:t>
            </a:r>
          </a:p>
          <a:p xmlns:a="http://schemas.openxmlformats.org/drawingml/2006/main">
            <a:pPr algn="ctr">
              <a:defRPr sz="15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稳定性风险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97A8FB-3AA3-4C93-8824-3C96C17C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09700"/>
            <a:ext cx="438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4"/>
          </a:solidFill>
          <a:ln xmlns:a="http://schemas.openxmlformats.org/drawingml/2006/main" w="9525">
            <a:solidFill>
              <a:srgbClr val="CCD6E4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4C1F6C-D983-42CF-AB42-241291C6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80975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17145">
            <a:solidFill>
              <a:srgbClr val="1E5AA8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odbc-coverage-dt</a:t>
            </a:r>
          </a:p>
          <a:p xmlns:a="http://schemas.openxmlformats.org/drawingml/2006/main">
            <a:pPr algn="ctr">
              <a:defRPr sz="1125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Skill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125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分析分支</a:t>
            </a:r>
          </a:p>
          <a:p xmlns:a="http://schemas.openxmlformats.org/drawingml/2006/main">
            <a:pPr algn="ctr">
              <a:defRPr sz="1125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设计 DT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1912EC-DD07-45DC-BB01-F3D2AFB0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409700"/>
            <a:ext cx="438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9525">
            <a:solidFill>
              <a:srgbClr val="1E5A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cxnSp>
        <p:nvCxnSpPr>
          <p:cNvPr id="12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209800" y="25241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E5AA8"/>
            </a:solidFill>
            <a:headEnd type="non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B7D4EE-6A13-442C-8DD4-5AC1DD2A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0975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3"/>
          </a:solidFill>
          <a:ln xmlns:a="http://schemas.openxmlformats.org/drawingml/2006/main" w="17145">
            <a:solidFill>
              <a:srgbClr val="0E8A88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真实证据与修复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unixODBC · ASan</a:t>
            </a:r>
          </a:p>
          <a:p xmlns:a="http://schemas.openxmlformats.org/drawingml/2006/main">
            <a:pPr algn="ctr">
              <a:defRPr sz="15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gcov/lcov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AA80AE-5911-469B-BA36-6CAD237B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409700"/>
            <a:ext cx="438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A88"/>
          </a:solidFill>
          <a:ln xmlns:a="http://schemas.openxmlformats.org/drawingml/2006/main" w="9525">
            <a:solidFill>
              <a:srgbClr val="0E8A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cxnSp>
        <p:nvCxnSpPr>
          <p:cNvPr id="15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495800" y="25241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E5AA8"/>
            </a:solidFill>
            <a:headEnd type="non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37D9F0-5AE6-41E4-A0E7-15165E6C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80975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EF"/>
          </a:solidFill>
          <a:ln xmlns:a="http://schemas.openxmlformats.org/drawingml/2006/main" w="17145">
            <a:solidFill>
              <a:srgbClr val="16845B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8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845B"/>
                </a:solidFill>
                <a:latin typeface="Microsoft YaHei"/>
                <a:ea typeface="Microsoft YaHei"/>
                <a:cs typeface="Microsoft YaHei"/>
              </a:rPr>
              <a:t>11 MERGED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168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845B"/>
                </a:solidFill>
                <a:latin typeface="Microsoft YaHei"/>
                <a:ea typeface="Microsoft YaHei"/>
                <a:cs typeface="Microsoft YaHei"/>
              </a:rPr>
              <a:t>psqlODBC</a:t>
            </a:r>
          </a:p>
          <a:p xmlns:a="http://schemas.openxmlformats.org/drawingml/2006/main">
            <a:pPr algn="ctr">
              <a:defRPr sz="1500" b="1">
                <a:solidFill>
                  <a:srgbClr val="168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845B"/>
                </a:solidFill>
                <a:latin typeface="Microsoft YaHei"/>
                <a:ea typeface="Microsoft YaHei"/>
                <a:cs typeface="Microsoft YaHei"/>
              </a:rPr>
              <a:t>上游合入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44A030-601F-40F6-9442-8EC71733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409700"/>
            <a:ext cx="438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45B"/>
          </a:solidFill>
          <a:ln xmlns:a="http://schemas.openxmlformats.org/drawingml/2006/main" w="9525">
            <a:solidFill>
              <a:srgbClr val="16845B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cxnSp>
        <p:nvCxnSpPr>
          <p:cNvPr id="18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6781800" y="25241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6845B"/>
            </a:solidFill>
            <a:headEnd type="non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5D1715-1332-4729-91C5-51DB5704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80975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B2F6B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Driver Quality Radar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本地映射</a:t>
            </a:r>
          </a:p>
          <a:p xmlns:a="http://schemas.openxmlformats.org/drawingml/2006/main">
            <a:pPr algn="ctr">
              <a:defRPr sz="1275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风险台账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86EBC8-302C-4837-B9FA-E59F357F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409700"/>
            <a:ext cx="438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6B"/>
          </a:solidFill>
          <a:ln xmlns:a="http://schemas.openxmlformats.org/drawingml/2006/main" w="9525">
            <a:solidFill>
              <a:srgbClr val="0B2F6B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cxnSp>
        <p:nvCxnSpPr>
          <p:cNvPr id="21" name=""/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067800" y="25241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E5AA8"/>
            </a:solidFill>
            <a:headEnd type="none" w="med" len="med"/>
          </a:ln>
        </p:spPr>
      </p:cxnSp>
      <p:cxnSp>
        <p:nvCxnSpPr>
          <p:cNvPr id="22" name=""/>
          <p:cNvCxnSpPr>
            <a:stCxn xmlns:a="http://schemas.openxmlformats.org/drawingml/2006/main" id="19" idx="2"/>
            <a:endCxn xmlns:a="http://schemas.openxmlformats.org/drawingml/2006/main" id="8" idx="2"/>
          </p:cNvCxnSpPr>
          <p:nvPr/>
        </p:nvCxnSpPr>
        <p:spPr>
          <a:xfrm xmlns:a="http://schemas.openxmlformats.org/drawingml/2006/main" flipH="1">
            <a:off x="1304925" y="3238500"/>
            <a:ext cx="9144000" cy="590550"/>
          </a:xfrm>
          <a:prstGeom xmlns:a="http://schemas.openxmlformats.org/drawingml/2006/main" prst="bentConnector4">
            <a:avLst/>
          </a:prstGeom>
          <a:ln xmlns:a="http://schemas.openxmlformats.org/drawingml/2006/main" w="17145">
            <a:solidFill>
              <a:srgbClr val="0E8A88"/>
            </a:solidFill>
            <a:headEnd type="non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C26614-E283-4540-BB2A-091386C4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290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E8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8A88"/>
                </a:solidFill>
                <a:latin typeface="Microsoft YaHei"/>
                <a:ea typeface="Microsoft YaHei"/>
                <a:cs typeface="Microsoft YaHei"/>
              </a:rPr>
              <a:t>缺陷模式 / 社区经验沉淀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D4F65B-E0AC-497C-A71B-440E4ABC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11430">
            <a:solidFill>
              <a:srgbClr val="1E5AA8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主动挖掘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4761A3-DB1D-419E-BA30-DFBACF69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095750"/>
            <a:ext cx="9477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6E4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源码  →  DT  →  真实验证  →  修复回归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2D28B3-B9B6-4C6F-85D8-B8CA21C9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A88"/>
          </a:solidFill>
          <a:ln xmlns:a="http://schemas.openxmlformats.org/drawingml/2006/main" w="11430">
            <a:solidFill>
              <a:srgbClr val="0E8A88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持续感知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4001FE-7DE6-4DCB-8DE1-28A4BE28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895850"/>
            <a:ext cx="9477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6E4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上游 PR  →  本地映射  →  规则 + AI  →  风险台账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FEF13D-EFFD-4E92-92DF-82547F32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287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B2F6B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前半段向社区输出修复，后半段让社区修复反哺 GaussDB</a:t>
            </a:r>
          </a:p>
        </p:txBody>
      </p:sp>
    </p:spTree>
    <p:extLst>
      <p:ext uri="{BB962C8B-B14F-4D97-AF65-F5344CB8AC3E}">
        <p14:creationId xmlns:p14="http://schemas.microsoft.com/office/powerpoint/2010/main" val="134104628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7282B58D-1EA3-4EAD-A15A-B8F9F8BC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705CFD85-AB74-4A06-8224-C95123FC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-3">
            <a:extLst xmlns:a="http://schemas.openxmlformats.org/drawingml/2006/main">
              <a:ext uri="{FF2B5EF4-FFF2-40B4-BE49-F238E27FC236}">
                <a16:creationId xmlns:a16="http://schemas.microsoft.com/office/drawing/2014/main" id="{FAF25156-2E2C-48B0-95FC-7C8384A0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66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A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-3">
            <a:extLst xmlns:a="http://schemas.openxmlformats.org/drawingml/2006/main">
              <a:ext uri="{FF2B5EF4-FFF2-40B4-BE49-F238E27FC236}">
                <a16:creationId xmlns:a16="http://schemas.microsoft.com/office/drawing/2014/main" id="{8F41286B-F0DB-4584-9FD4-928DF6C4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8A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E8A88"/>
                </a:solidFill>
                <a:latin typeface="Arial"/>
                <a:ea typeface="Arial"/>
                <a:cs typeface="Arial"/>
              </a:rPr>
              <a:t>可执行 SKILL</a:t>
            </a:r>
          </a:p>
        </p:txBody>
      </p:sp>
      <p:sp>
        <p:nvSpPr>
          <p:cNvPr id="5" name="slide-title-3">
            <a:extLst xmlns:a="http://schemas.openxmlformats.org/drawingml/2006/main">
              <a:ext uri="{FF2B5EF4-FFF2-40B4-BE49-F238E27FC236}">
                <a16:creationId xmlns:a16="http://schemas.microsoft.com/office/drawing/2014/main" id="{C2B8F580-4662-4B54-A924-71A06F9F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287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odbc-coverage-dt 把经验固化为工程流水线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567558-F0B0-497B-8240-8E7A443C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66800"/>
            <a:ext cx="1104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38A"/>
                </a:solidFill>
                <a:latin typeface="Microsoft YaHei"/>
                <a:ea typeface="Microsoft YaHei"/>
                <a:cs typeface="Microsoft YaHei"/>
              </a:rPr>
              <a:t>Skill = 触发条件 + 知识与编排 + 固定脚本 + 验收标准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D7E8BA-BB39-4261-A55D-6023D270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287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05C630-8653-49DB-B180-8186B6CD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714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E5AA8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75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目标函数</a:t>
            </a:r>
          </a:p>
          <a:p xmlns:a="http://schemas.openxmlformats.org/drawingml/2006/main">
            <a:pPr algn="ctr">
              <a:defRPr sz="1575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未覆盖分支</a:t>
            </a:r>
          </a:p>
          <a:p xmlns:a="http://schemas.openxmlformats.org/drawingml/2006/main">
            <a:pPr algn="ctr">
              <a:defRPr sz="1575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稳定性风险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414F4C-1A78-46E2-ABEC-B84FC6E3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619250"/>
            <a:ext cx="6477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B2F6B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A4EB02-2620-4762-B04E-F43A3956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52600"/>
            <a:ext cx="590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odbc-coverage-dt Skill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A9844F-7F88-4BEA-84C8-47392666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09800"/>
            <a:ext cx="5981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C4C2F9-224F-4DA1-8D51-F21B1089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8125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6B"/>
          </a:solidFill>
          <a:ln xmlns:a="http://schemas.openxmlformats.org/drawingml/2006/main" w="11430">
            <a:solidFill>
              <a:srgbClr val="0B2F6B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知识与编排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CB15A6-7827-48E3-8B5D-E979CE96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81250"/>
            <a:ext cx="4238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CCD6E4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SKILL.md  ·  references/</a:t>
            </a:r>
          </a:p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分支枚举 → TC-Branch 矩阵 → 边界输入 → 覆盖反馈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AB8A18-3616-4448-9801-759F5F17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371850"/>
            <a:ext cx="142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11430">
            <a:solidFill>
              <a:srgbClr val="1E5AA8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固定执行脚本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07BDB3-16FC-4298-8077-08C1184A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71850"/>
            <a:ext cx="4238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E4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B2F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2F6B"/>
                </a:solidFill>
                <a:latin typeface="Arial"/>
                <a:ea typeface="Arial"/>
                <a:cs typeface="Arial"/>
              </a:rPr>
              <a:t>wsl-bootstrap.sh   →   build-with-gcov.sh   →   run-coverage.sh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A69027-08FC-41FB-985E-4C5E4442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267200"/>
            <a:ext cx="142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A88"/>
          </a:solidFill>
          <a:ln xmlns:a="http://schemas.openxmlformats.org/drawingml/2006/main" w="11430">
            <a:solidFill>
              <a:srgbClr val="0E8A88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真实验证环境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4B37C3-6F6F-4CD2-B9B5-9B9EF9FE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267200"/>
            <a:ext cx="4238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3"/>
          </a:solidFill>
          <a:ln xmlns:a="http://schemas.openxmlformats.org/drawingml/2006/main" w="9525">
            <a:solidFill>
              <a:srgbClr val="CCD6E4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E8A8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E8A88"/>
                </a:solidFill>
                <a:latin typeface="Arial"/>
                <a:ea typeface="Arial"/>
                <a:cs typeface="Arial"/>
              </a:rPr>
              <a:t>WSL + unixODBC + PostgreSQL     |     ASan/UBSan + gcov/lcov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F51C23-366E-4AA9-886A-247FECC3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809750"/>
            <a:ext cx="2190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845B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可审查输出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分析文档</a:t>
            </a:r>
          </a:p>
          <a:p xmlns:a="http://schemas.openxmlformats.org/drawingml/2006/main">
            <a:pPr algn="ctr">
              <a:defRPr sz="15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DT 源码</a:t>
            </a:r>
          </a:p>
          <a:p xmlns:a="http://schemas.openxmlformats.org/drawingml/2006/main">
            <a:pPr algn="ctr">
              <a:defRPr sz="15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运行结果</a:t>
            </a:r>
          </a:p>
          <a:p xmlns:a="http://schemas.openxmlformats.org/drawingml/2006/main">
            <a:pPr algn="ctr">
              <a:defRPr sz="15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覆盖报告</a:t>
            </a:r>
          </a:p>
          <a:p xmlns:a="http://schemas.openxmlformats.org/drawingml/2006/main">
            <a:pPr algn="ctr">
              <a:defRPr sz="15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Bug 证据 / 修复 PR</a:t>
            </a:r>
          </a:p>
        </p:txBody>
      </p:sp>
      <p:cxnSp>
        <p:nvCxnSpPr>
          <p:cNvPr id="1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114550" y="3381375"/>
            <a:ext cx="438150" cy="952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E5AA8"/>
            </a:solidFill>
            <a:headEnd type="none" w="med" len="med"/>
          </a:ln>
        </p:spPr>
      </p:cxnSp>
      <p:cxnSp>
        <p:nvCxnSpPr>
          <p:cNvPr id="20" name=""/>
          <p:cNvCxnSpPr>
            <a:stCxn xmlns:a="http://schemas.openxmlformats.org/drawingml/2006/main" id="9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9029700" y="3381375"/>
            <a:ext cx="457200" cy="952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6845B"/>
            </a:solidFill>
            <a:headEnd type="non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306E76-FDA3-4738-8B97-BF835C57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11430">
            <a:solidFill>
              <a:srgbClr val="1E5AA8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自动化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3697C0-71F2-4821-A8CD-85B1040E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619750"/>
            <a:ext cx="385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6E4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分析 · 设计 · 迭代 · 材料整理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CBEB72-5B31-4EE4-9EA9-6CCFA036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6197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A88"/>
          </a:solidFill>
          <a:ln xmlns:a="http://schemas.openxmlformats.org/drawingml/2006/main" w="11430">
            <a:solidFill>
              <a:srgbClr val="0E8A88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工程师把关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E74822-A56F-4247-A466-77D30517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619750"/>
            <a:ext cx="3667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6E4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目标选择 · 可达性判断 · 修复审查</a:t>
            </a:r>
          </a:p>
        </p:txBody>
      </p:sp>
    </p:spTree>
    <p:extLst>
      <p:ext uri="{BB962C8B-B14F-4D97-AF65-F5344CB8AC3E}">
        <p14:creationId xmlns:p14="http://schemas.microsoft.com/office/powerpoint/2010/main" val="3590720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1C2CFC92-CE49-49B7-9144-8C83636F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37772B14-1C44-4659-8857-761705299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-4">
            <a:extLst xmlns:a="http://schemas.openxmlformats.org/drawingml/2006/main">
              <a:ext uri="{FF2B5EF4-FFF2-40B4-BE49-F238E27FC236}">
                <a16:creationId xmlns:a16="http://schemas.microsoft.com/office/drawing/2014/main" id="{C1426745-C71F-4547-948E-D688D48D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66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A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-4">
            <a:extLst xmlns:a="http://schemas.openxmlformats.org/drawingml/2006/main">
              <a:ext uri="{FF2B5EF4-FFF2-40B4-BE49-F238E27FC236}">
                <a16:creationId xmlns:a16="http://schemas.microsoft.com/office/drawing/2014/main" id="{182794C1-037B-44EB-AB06-7691FFFA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8A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E8A88"/>
                </a:solidFill>
                <a:latin typeface="Arial"/>
                <a:ea typeface="Arial"/>
                <a:cs typeface="Arial"/>
              </a:rPr>
              <a:t>真实案例</a:t>
            </a:r>
          </a:p>
        </p:txBody>
      </p:sp>
      <p:sp>
        <p:nvSpPr>
          <p:cNvPr id="5" name="slide-title-4">
            <a:extLst xmlns:a="http://schemas.openxmlformats.org/drawingml/2006/main">
              <a:ext uri="{FF2B5EF4-FFF2-40B4-BE49-F238E27FC236}">
                <a16:creationId xmlns:a16="http://schemas.microsoft.com/office/drawing/2014/main" id="{7C6CD66F-231A-449B-AFDA-EF5A0A67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287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PR #185：覆盖线索如何变成上游合入修复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D020DE-63FE-4027-AC40-A7775192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66800"/>
            <a:ext cx="1104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38A"/>
                </a:solidFill>
                <a:latin typeface="Microsoft YaHei"/>
                <a:ea typeface="Microsoft YaHei"/>
                <a:cs typeface="Microsoft YaHei"/>
              </a:rPr>
              <a:t>公共 API 复现 + Sanitizer 证据 + 最小修复 + 回归用例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A1A5AD-35ED-4C5C-8E65-AD3A9E573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287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4189BC-B63D-45ED-AC47-C4B05156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23812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B2F6B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2F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F6B"/>
                </a:solidFill>
                <a:latin typeface="Arial"/>
                <a:ea typeface="Arial"/>
                <a:cs typeface="Arial"/>
              </a:rPr>
              <a:t>覆盖 / 源码线索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050" b="1">
                <a:solidFill>
                  <a:srgbClr val="0B2F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F6B"/>
                </a:solidFill>
                <a:latin typeface="Arial"/>
                <a:ea typeface="Arial"/>
                <a:cs typeface="Arial"/>
              </a:rPr>
              <a:t>SC_scanQueryAndCountParams</a:t>
            </a:r>
          </a:p>
          <a:p xmlns:a="http://schemas.openxmlformats.org/drawingml/2006/main">
            <a:pPr algn="ctr">
              <a:defRPr sz="1050" b="1">
                <a:solidFill>
                  <a:srgbClr val="0B2F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F6B"/>
                </a:solidFill>
                <a:latin typeface="Arial"/>
                <a:ea typeface="Arial"/>
                <a:cs typeface="Arial"/>
              </a:rPr>
              <a:t>开头字符串字面量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A5EB33-B842-47AC-85B3-F4F26DED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4382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F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D81088-D72C-4E0D-8F28-7EDB0519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4382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6154A4-E434-419F-8D74-2D0B9DBE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714500"/>
            <a:ext cx="23812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B2F6B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前置条件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05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SQL 第 1 个字符为单引号</a:t>
            </a:r>
          </a:p>
          <a:p xmlns:a="http://schemas.openxmlformats.org/drawingml/2006/main">
            <a:pPr algn="ctr">
              <a:defRPr sz="105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扫描位置 =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7CDBD7-C79D-4FB2-910C-09FC28DB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4382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F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D3AE32-B0CB-4F2F-8415-13CC21C8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4382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cxnSp>
        <p:nvCxnSpPr>
          <p:cNvPr id="14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781300" y="235743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E5AA8"/>
            </a:solidFill>
            <a:headEnd type="non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F45FBF-6742-44A9-9D89-078176BA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14500"/>
            <a:ext cx="23812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B2F6B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2F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F6B"/>
                </a:solidFill>
                <a:latin typeface="Arial"/>
                <a:ea typeface="Arial"/>
                <a:cs typeface="Arial"/>
              </a:rPr>
              <a:t>最小公共 API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050" b="1">
                <a:solidFill>
                  <a:srgbClr val="0B2F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F6B"/>
                </a:solidFill>
                <a:latin typeface="Arial"/>
                <a:ea typeface="Arial"/>
                <a:cs typeface="Arial"/>
              </a:rPr>
              <a:t>SQLPrepare   'abc'</a:t>
            </a:r>
          </a:p>
          <a:p xmlns:a="http://schemas.openxmlformats.org/drawingml/2006/main">
            <a:pPr algn="ctr">
              <a:defRPr sz="1050" b="1">
                <a:solidFill>
                  <a:srgbClr val="0B2F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F6B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 algn="ctr">
              <a:defRPr sz="1050" b="1">
                <a:solidFill>
                  <a:srgbClr val="0B2F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F6B"/>
                </a:solidFill>
                <a:latin typeface="Arial"/>
                <a:ea typeface="Arial"/>
                <a:cs typeface="Arial"/>
              </a:rPr>
              <a:t>SQLNumParams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DEBC6B-20EC-4F58-9282-0F441C7C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4382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F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F0716C-E95E-4461-BD8C-3640083A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4382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cxnSp>
        <p:nvCxnSpPr>
          <p:cNvPr id="18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638800" y="235743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E5AA8"/>
            </a:solidFill>
            <a:headEnd type="non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3DCD9E-457A-417F-8F67-90E7D52E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14500"/>
            <a:ext cx="23812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B2F6B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2F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F6B"/>
                </a:solidFill>
                <a:latin typeface="Arial"/>
                <a:ea typeface="Arial"/>
                <a:cs typeface="Arial"/>
              </a:rPr>
              <a:t>真实驱动运行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050" b="1">
                <a:solidFill>
                  <a:srgbClr val="0B2F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F6B"/>
                </a:solidFill>
                <a:latin typeface="Arial"/>
                <a:ea typeface="Arial"/>
                <a:cs typeface="Arial"/>
              </a:rPr>
              <a:t>unixODBC → psqlODBC</a:t>
            </a:r>
          </a:p>
          <a:p xmlns:a="http://schemas.openxmlformats.org/drawingml/2006/main">
            <a:pPr algn="ctr">
              <a:defRPr sz="1050" b="1">
                <a:solidFill>
                  <a:srgbClr val="0B2F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F6B"/>
                </a:solidFill>
                <a:latin typeface="Arial"/>
                <a:ea typeface="Arial"/>
                <a:cs typeface="Arial"/>
              </a:rPr>
              <a:t>SQLNumParams → PGAPI_NumParams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A59154-81FC-4506-8D08-391A2122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4382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F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03E765-3886-417D-A7B4-B2EA70AB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4382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cxnSp>
        <p:nvCxnSpPr>
          <p:cNvPr id="22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496300" y="235743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E5AA8"/>
            </a:solidFill>
            <a:headEnd type="non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8BF91C-EC3B-41F2-ADB8-5797D67D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33750"/>
            <a:ext cx="23812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BEC"/>
          </a:solidFill>
          <a:ln xmlns:a="http://schemas.openxmlformats.org/drawingml/2006/main" w="19050">
            <a:solidFill>
              <a:srgbClr val="C62828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62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62828"/>
                </a:solidFill>
                <a:latin typeface="Microsoft YaHei"/>
                <a:ea typeface="Microsoft YaHei"/>
                <a:cs typeface="Microsoft YaHei"/>
              </a:rPr>
              <a:t>ASan 确认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050" b="1">
                <a:solidFill>
                  <a:srgbClr val="C62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62828"/>
                </a:solidFill>
                <a:latin typeface="Microsoft YaHei"/>
                <a:ea typeface="Microsoft YaHei"/>
                <a:cs typeface="Microsoft YaHei"/>
              </a:rPr>
              <a:t>heap-buffer-overflow</a:t>
            </a:r>
          </a:p>
          <a:p xmlns:a="http://schemas.openxmlformats.org/drawingml/2006/main">
            <a:pPr algn="ctr">
              <a:defRPr sz="1050" b="1">
                <a:solidFill>
                  <a:srgbClr val="C62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62828"/>
                </a:solidFill>
                <a:latin typeface="Microsoft YaHei"/>
                <a:ea typeface="Microsoft YaHei"/>
                <a:cs typeface="Microsoft YaHei"/>
              </a:rPr>
              <a:t>READ of size 1</a:t>
            </a:r>
          </a:p>
          <a:p xmlns:a="http://schemas.openxmlformats.org/drawingml/2006/main">
            <a:pPr algn="ctr">
              <a:defRPr sz="1050" b="1">
                <a:solidFill>
                  <a:srgbClr val="C62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62828"/>
                </a:solidFill>
                <a:latin typeface="Microsoft YaHei"/>
                <a:ea typeface="Microsoft YaHei"/>
                <a:cs typeface="Microsoft YaHei"/>
              </a:rPr>
              <a:t>statement.c:1125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BCB612-2AFD-43FC-967C-A88D6433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0575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C27925-724A-43D1-95A8-FE0A0EEC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0575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cxnSp>
        <p:nvCxnSpPr>
          <p:cNvPr id="26" name=""/>
          <p:cNvCxnSpPr>
            <a:stCxn xmlns:a="http://schemas.openxmlformats.org/drawingml/2006/main" id="19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10163175" y="3000375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62828"/>
            </a:solidFill>
            <a:headEnd type="non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28605F-D280-4CC8-B428-69ABA34E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33750"/>
            <a:ext cx="23812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B2F6B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2F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F6B"/>
                </a:solidFill>
                <a:latin typeface="Arial"/>
                <a:ea typeface="Arial"/>
                <a:cs typeface="Arial"/>
              </a:rPr>
              <a:t>根因与最小修复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050" b="1">
                <a:solidFill>
                  <a:srgbClr val="0B2F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F6B"/>
                </a:solidFill>
                <a:latin typeface="Arial"/>
                <a:ea typeface="Arial"/>
                <a:cs typeface="Arial"/>
              </a:rPr>
              <a:t>ENCODE_PTR(encstr)[-1]</a:t>
            </a:r>
          </a:p>
          <a:p xmlns:a="http://schemas.openxmlformats.org/drawingml/2006/main">
            <a:pPr algn="ctr">
              <a:defRPr sz="1050" b="1">
                <a:solidFill>
                  <a:srgbClr val="0B2F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F6B"/>
                </a:solidFill>
                <a:latin typeface="Arial"/>
                <a:ea typeface="Arial"/>
                <a:cs typeface="Arial"/>
              </a:rPr>
              <a:t>增加起点边界保护（3 处）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1CC728-F609-40A7-8143-64730ACA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0575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F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06F359-20B2-4444-B842-0967C81B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0575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cxnSp>
        <p:nvCxnSpPr>
          <p:cNvPr id="30" name=""/>
          <p:cNvCxnSpPr>
            <a:stCxn xmlns:a="http://schemas.openxmlformats.org/drawingml/2006/main" id="23" idx="1"/>
            <a:endCxn xmlns:a="http://schemas.openxmlformats.org/drawingml/2006/main" id="27" idx="3"/>
          </p:cNvCxnSpPr>
          <p:nvPr/>
        </p:nvCxnSpPr>
        <p:spPr>
          <a:xfrm xmlns:a="http://schemas.openxmlformats.org/drawingml/2006/main" flipH="1">
            <a:off x="8496300" y="397668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E5AA8"/>
            </a:solidFill>
            <a:headEnd type="none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B8B557-87DB-41BE-B96B-9E6E5B5D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33750"/>
            <a:ext cx="23812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EF"/>
          </a:solidFill>
          <a:ln xmlns:a="http://schemas.openxmlformats.org/drawingml/2006/main" w="19050">
            <a:solidFill>
              <a:srgbClr val="16845B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8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45B"/>
                </a:solidFill>
                <a:latin typeface="Microsoft YaHei"/>
                <a:ea typeface="Microsoft YaHei"/>
                <a:cs typeface="Microsoft YaHei"/>
              </a:rPr>
              <a:t>回归 + 社区合入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050" b="1">
                <a:solidFill>
                  <a:srgbClr val="168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45B"/>
                </a:solidFill>
                <a:latin typeface="Microsoft YaHei"/>
                <a:ea typeface="Microsoft YaHei"/>
                <a:cs typeface="Microsoft YaHei"/>
              </a:rPr>
              <a:t>runsuite: ok 1</a:t>
            </a:r>
          </a:p>
          <a:p xmlns:a="http://schemas.openxmlformats.org/drawingml/2006/main">
            <a:pPr algn="ctr">
              <a:defRPr sz="1050" b="1">
                <a:solidFill>
                  <a:srgbClr val="168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45B"/>
                </a:solidFill>
                <a:latin typeface="Microsoft YaHei"/>
                <a:ea typeface="Microsoft YaHei"/>
                <a:cs typeface="Microsoft YaHei"/>
              </a:rPr>
              <a:t>PR #185 MERGED · 2026-05-16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8A895F-6538-4BEE-BDD3-6A2ABB28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0575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76D2CB-45D5-49B1-8B1E-1F47DB16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0575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cxnSp>
        <p:nvCxnSpPr>
          <p:cNvPr id="34" name=""/>
          <p:cNvCxnSpPr>
            <a:stCxn xmlns:a="http://schemas.openxmlformats.org/drawingml/2006/main" id="27" idx="1"/>
            <a:endCxn xmlns:a="http://schemas.openxmlformats.org/drawingml/2006/main" id="31" idx="3"/>
          </p:cNvCxnSpPr>
          <p:nvPr/>
        </p:nvCxnSpPr>
        <p:spPr>
          <a:xfrm xmlns:a="http://schemas.openxmlformats.org/drawingml/2006/main" flipH="1">
            <a:off x="5638800" y="397668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6845B"/>
            </a:solidFill>
            <a:headEnd type="none" w="med" len="me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D59DDF-6FE6-4F2F-9F47-FA38BDF7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11430">
            <a:solidFill>
              <a:srgbClr val="1E5AA8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Skill 自动化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AAA743-6468-4F01-972E-7CDB42B6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857750"/>
            <a:ext cx="9572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6E4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分支分析  →  输入构造  →  构建运行  →  证据整理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94BBE8-69E1-4749-8EBD-040B1BF4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A88"/>
          </a:solidFill>
          <a:ln xmlns:a="http://schemas.openxmlformats.org/drawingml/2006/main" w="11430">
            <a:solidFill>
              <a:srgbClr val="0E8A88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工程师把关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54D32B9-DD71-4C02-B049-A661F63E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429250"/>
            <a:ext cx="9572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6E4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确认可达  →  审查最小修复  →  提交与响应 Review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1204AC-70AA-4DCF-8C45-3F5293A5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11287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B2F6B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不是 AI 猜到 Bug，而是形成可复现、可度量、可审查的证据链</a:t>
            </a:r>
          </a:p>
        </p:txBody>
      </p:sp>
    </p:spTree>
    <p:extLst>
      <p:ext uri="{BB962C8B-B14F-4D97-AF65-F5344CB8AC3E}">
        <p14:creationId xmlns:p14="http://schemas.microsoft.com/office/powerpoint/2010/main" val="119280002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17F96921-C575-47D5-BCA6-6A1E5566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DD0FE2C1-9D6B-4D36-998F-88C58F70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-5">
            <a:extLst xmlns:a="http://schemas.openxmlformats.org/drawingml/2006/main">
              <a:ext uri="{FF2B5EF4-FFF2-40B4-BE49-F238E27FC236}">
                <a16:creationId xmlns:a16="http://schemas.microsoft.com/office/drawing/2014/main" id="{BE4CE971-4045-41DF-9595-BA3C3952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66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A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-5">
            <a:extLst xmlns:a="http://schemas.openxmlformats.org/drawingml/2006/main">
              <a:ext uri="{FF2B5EF4-FFF2-40B4-BE49-F238E27FC236}">
                <a16:creationId xmlns:a16="http://schemas.microsoft.com/office/drawing/2014/main" id="{99EA0C8B-1464-41F5-8AC6-099089B7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8A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E8A88"/>
                </a:solidFill>
                <a:latin typeface="Arial"/>
                <a:ea typeface="Arial"/>
                <a:cs typeface="Arial"/>
              </a:rPr>
              <a:t>社区验证</a:t>
            </a:r>
          </a:p>
        </p:txBody>
      </p:sp>
      <p:sp>
        <p:nvSpPr>
          <p:cNvPr id="5" name="slide-title-5">
            <a:extLst xmlns:a="http://schemas.openxmlformats.org/drawingml/2006/main">
              <a:ext uri="{FF2B5EF4-FFF2-40B4-BE49-F238E27FC236}">
                <a16:creationId xmlns:a16="http://schemas.microsoft.com/office/drawing/2014/main" id="{E76FB0F7-2589-46C3-A720-8B782E71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287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11 个上游合入证明方法能持续产出工程结果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DE1C3A-D816-4605-9381-7F3FB241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66800"/>
            <a:ext cx="1104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38A"/>
                </a:solidFill>
                <a:latin typeface="Microsoft YaHei"/>
                <a:ea typeface="Microsoft YaHei"/>
                <a:cs typeface="Microsoft YaHei"/>
              </a:rPr>
              <a:t>统计口径只包含 psqlODBC 上游已接受并合入的 Bug Fix PR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497214-1D6E-4BBB-851D-ED0A9E15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287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FEAFF1-E473-49DC-9E25-39FDEF6E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2571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B2F6B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457E8D-5009-46E8-9916-B32900E0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571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8400" b="1">
                <a:solidFill>
                  <a:srgbClr val="0B2F6B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0B2F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136444-C337-43AB-A1C3-5F8E581D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2038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6845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845B"/>
                </a:solidFill>
                <a:latin typeface="Arial"/>
                <a:ea typeface="Arial"/>
                <a:cs typeface="Arial"/>
              </a:rPr>
              <a:t>MERGED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328451-3D67-4C96-814B-88C30860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266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38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738A"/>
                </a:solidFill>
                <a:latin typeface="Arial"/>
                <a:ea typeface="Arial"/>
                <a:cs typeface="Arial"/>
              </a:rPr>
              <a:t>psqlODBC community accepted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B78A5F-994D-4B12-9B53-3A197BB8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81150"/>
            <a:ext cx="7953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代表性合入问题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BCD415-4C7D-486C-8C90-F49C2804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383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45B"/>
          </a:solidFill>
          <a:ln xmlns:a="http://schemas.openxmlformats.org/drawingml/2006/main" w="11430">
            <a:solidFill>
              <a:srgbClr val="16845B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  #188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5E528D-EA43-4AA9-AA7D-B08B7AEC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383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6E4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释放 per-query rollback 的 PGresult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746506-3428-4DE1-868E-98C3B3FC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62225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45B"/>
          </a:solidFill>
          <a:ln xmlns:a="http://schemas.openxmlformats.org/drawingml/2006/main" w="11430">
            <a:solidFill>
              <a:srgbClr val="16845B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  #187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AD2E48-6184-45C9-A8E2-4B876909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62225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6E4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校验 UTF-16 surrogate pair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738B29-930D-4E37-A6A9-ACA6C3AE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8610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45B"/>
          </a:solidFill>
          <a:ln xmlns:a="http://schemas.openxmlformats.org/drawingml/2006/main" w="11430">
            <a:solidFill>
              <a:srgbClr val="16845B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  #186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616828-5A8B-488C-AB2C-31680C3D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0861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6E4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修正 SQLSetDescRec 字段传递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1AA1F1-3255-4D52-929F-06236246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09975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45B"/>
          </a:solidFill>
          <a:ln xmlns:a="http://schemas.openxmlformats.org/drawingml/2006/main" w="11430">
            <a:solidFill>
              <a:srgbClr val="16845B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  #185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DC177D-24F4-4D9A-9C00-D1FA0F03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09975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6E4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修复字符串起点前越界读取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3AE728-C2F1-4CF2-A501-BD619C40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338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45B"/>
          </a:solidFill>
          <a:ln xmlns:a="http://schemas.openxmlformats.org/drawingml/2006/main" w="11430">
            <a:solidFill>
              <a:srgbClr val="16845B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  #184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F197BC-1C95-4B7E-B423-E3CCEDED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1338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6E4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连接参数日志脱敏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14B756-0BB1-41B6-947E-25074E9F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383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45B"/>
          </a:solidFill>
          <a:ln xmlns:a="http://schemas.openxmlformats.org/drawingml/2006/main" w="11430">
            <a:solidFill>
              <a:srgbClr val="16845B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  #183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694E6F-B990-4D40-AA4C-39AC3B14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383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6E4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解绑已释放应用描述符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DC2330-2DB5-41C2-A856-20C13DB8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562225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45B"/>
          </a:solidFill>
          <a:ln xmlns:a="http://schemas.openxmlformats.org/drawingml/2006/main" w="11430">
            <a:solidFill>
              <a:srgbClr val="16845B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  #182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0C01FA-47F2-4B6F-BC87-2346F1C9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62225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6E4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拒绝非法 SQLPutData 长度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7FD1F6-6DE4-4255-A7A1-9C1AB5FA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08610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45B"/>
          </a:solidFill>
          <a:ln xmlns:a="http://schemas.openxmlformats.org/drawingml/2006/main" w="11430">
            <a:solidFill>
              <a:srgbClr val="16845B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  #179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3C3EC4-77F5-4EA6-9EEF-E2332821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861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6E4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处理 ARD bookmark 分配失败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9BF2CC-DA30-4F54-82C4-11D1DFF8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609975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45B"/>
          </a:solidFill>
          <a:ln xmlns:a="http://schemas.openxmlformats.org/drawingml/2006/main" w="11430">
            <a:solidFill>
              <a:srgbClr val="16845B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  #178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C83FAC-A9E5-4021-B3E5-0AB3D807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09975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6E4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拒绝超长游标名称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58F7DE-09A8-4448-8E41-7A080DC7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81550"/>
            <a:ext cx="790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11430">
            <a:solidFill>
              <a:srgbClr val="CCD6E4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内存安全  ｜  字符编码  ｜  参数校验  ｜  描述符  ｜  资源释放  ｜  日志安全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55BF44-995A-433C-9DFA-56ED0DB9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11287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E8A88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E8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E8A88"/>
                </a:solidFill>
                <a:latin typeface="Microsoft YaHei"/>
                <a:ea typeface="Microsoft YaHei"/>
                <a:cs typeface="Microsoft YaHei"/>
              </a:rPr>
              <a:t>AI 辅助设计   →   真实驱动验证   →   覆盖 / 回归证据   →   社区 Review / Merge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54FEAC-9525-4533-953A-2AB3E617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11287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6B"/>
          </a:solidFill>
          <a:ln xmlns:a="http://schemas.openxmlformats.org/drawingml/2006/main" w="11430">
            <a:solidFill>
              <a:srgbClr val="0B2F6B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被上游合入，才是可验证的社区工程贡献</a:t>
            </a:r>
          </a:p>
        </p:txBody>
      </p:sp>
    </p:spTree>
    <p:extLst>
      <p:ext uri="{BB962C8B-B14F-4D97-AF65-F5344CB8AC3E}">
        <p14:creationId xmlns:p14="http://schemas.microsoft.com/office/powerpoint/2010/main" val="205066969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48EE2310-C643-4DD8-832C-38B3BB5A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4E7E5C3D-810E-4A5C-8F78-3DA64463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-6">
            <a:extLst xmlns:a="http://schemas.openxmlformats.org/drawingml/2006/main">
              <a:ext uri="{FF2B5EF4-FFF2-40B4-BE49-F238E27FC236}">
                <a16:creationId xmlns:a16="http://schemas.microsoft.com/office/drawing/2014/main" id="{C1F85DD9-9C9D-4B04-943F-06CDD7F1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66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A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-6">
            <a:extLst xmlns:a="http://schemas.openxmlformats.org/drawingml/2006/main">
              <a:ext uri="{FF2B5EF4-FFF2-40B4-BE49-F238E27FC236}">
                <a16:creationId xmlns:a16="http://schemas.microsoft.com/office/drawing/2014/main" id="{C46744E2-48E8-499C-AEB4-8305BBD0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8A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E8A88"/>
                </a:solidFill>
                <a:latin typeface="Arial"/>
                <a:ea typeface="Arial"/>
                <a:cs typeface="Arial"/>
              </a:rPr>
              <a:t>风险雷达</a:t>
            </a:r>
          </a:p>
        </p:txBody>
      </p:sp>
      <p:sp>
        <p:nvSpPr>
          <p:cNvPr id="5" name="slide-title-6">
            <a:extLst xmlns:a="http://schemas.openxmlformats.org/drawingml/2006/main">
              <a:ext uri="{FF2B5EF4-FFF2-40B4-BE49-F238E27FC236}">
                <a16:creationId xmlns:a16="http://schemas.microsoft.com/office/drawing/2014/main" id="{3B9D5266-7292-4490-811B-0EFF3049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287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上游修复被转化为 GaussDB 本地可复核风险线索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84F1A1-A03F-4D92-BAEC-DFDDE43F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66800"/>
            <a:ext cx="1104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38A"/>
                </a:solidFill>
                <a:latin typeface="Microsoft YaHei"/>
                <a:ea typeface="Microsoft YaHei"/>
                <a:cs typeface="Microsoft YaHei"/>
              </a:rPr>
              <a:t>规则负责确定性判断，AI 处理复杂语义差异，最终输出完整证据链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B9E563-C463-4B57-8FA4-5D6D154A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287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8D19EB-2D23-45E4-B146-7EBDA23C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2381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17145">
            <a:solidFill>
              <a:srgbClr val="1E5AA8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1  情报采集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GitHub merged PR</a:t>
            </a:r>
          </a:p>
          <a:p xmlns:a="http://schemas.openxmlformats.org/drawingml/2006/main">
            <a:pPr algn="ctr">
              <a:defRPr sz="15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ODBC / JDBC Profile</a:t>
            </a:r>
          </a:p>
          <a:p xmlns:a="http://schemas.openxmlformats.org/drawingml/2006/main">
            <a:pPr algn="ctr">
              <a:defRPr sz="15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增量同步与缓存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1D09D9-63CA-4273-A740-B2EA7FC9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952625"/>
            <a:ext cx="2381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B2F6B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2  Patch 解析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Diff / 文件 / 函数</a:t>
            </a:r>
          </a:p>
          <a:p xmlns:a="http://schemas.openxmlformats.org/drawingml/2006/main">
            <a:pPr algn="ctr">
              <a:defRPr sz="15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本地源码映射</a:t>
            </a:r>
          </a:p>
          <a:p xmlns:a="http://schemas.openxmlformats.org/drawingml/2006/main">
            <a:pPr algn="ctr">
              <a:defRPr sz="15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精确行号定位</a:t>
            </a:r>
          </a:p>
        </p:txBody>
      </p:sp>
      <p:cxnSp>
        <p:nvCxnSpPr>
          <p:cNvPr id="10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781300" y="29527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B2F6B"/>
            </a:solidFill>
            <a:headEnd type="none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CBE6D6-4FD2-438B-9414-DDED70F2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52625"/>
            <a:ext cx="2381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3"/>
          </a:solidFill>
          <a:ln xmlns:a="http://schemas.openxmlformats.org/drawingml/2006/main" w="17145">
            <a:solidFill>
              <a:srgbClr val="0E8A88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8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E8A88"/>
                </a:solidFill>
                <a:latin typeface="Microsoft YaHei"/>
                <a:ea typeface="Microsoft YaHei"/>
                <a:cs typeface="Microsoft YaHei"/>
              </a:rPr>
              <a:t>3  双引擎研判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0E8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E8A88"/>
                </a:solidFill>
                <a:latin typeface="Microsoft YaHei"/>
                <a:ea typeface="Microsoft YaHei"/>
                <a:cs typeface="Microsoft YaHei"/>
              </a:rPr>
              <a:t>规则引擎 V2</a:t>
            </a:r>
          </a:p>
          <a:p xmlns:a="http://schemas.openxmlformats.org/drawingml/2006/main">
            <a:pPr algn="ctr">
              <a:defRPr sz="1500" b="1">
                <a:solidFill>
                  <a:srgbClr val="0E8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E8A88"/>
                </a:solidFill>
                <a:latin typeface="Microsoft YaHei"/>
                <a:ea typeface="Microsoft YaHei"/>
                <a:cs typeface="Microsoft YaHei"/>
              </a:rPr>
              <a:t>AI 专家分析</a:t>
            </a:r>
          </a:p>
          <a:p xmlns:a="http://schemas.openxmlformats.org/drawingml/2006/main">
            <a:pPr algn="ctr">
              <a:defRPr sz="1500" b="1">
                <a:solidFill>
                  <a:srgbClr val="0E8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E8A88"/>
                </a:solidFill>
                <a:latin typeface="Microsoft YaHei"/>
                <a:ea typeface="Microsoft YaHei"/>
                <a:cs typeface="Microsoft YaHei"/>
              </a:rPr>
              <a:t>风险等级与建议</a:t>
            </a:r>
          </a:p>
        </p:txBody>
      </p:sp>
      <p:cxnSp>
        <p:nvCxnSpPr>
          <p:cNvPr id="12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638800" y="29527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E8A88"/>
            </a:solidFill>
            <a:headEnd type="non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EE9D1B-A572-4E6D-A6C0-58C14577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52625"/>
            <a:ext cx="2381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EF"/>
          </a:solidFill>
          <a:ln xmlns:a="http://schemas.openxmlformats.org/drawingml/2006/main" w="17145">
            <a:solidFill>
              <a:srgbClr val="16845B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8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845B"/>
                </a:solidFill>
                <a:latin typeface="Microsoft YaHei"/>
                <a:ea typeface="Microsoft YaHei"/>
                <a:cs typeface="Microsoft YaHei"/>
              </a:rPr>
              <a:t>4  输出与治理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168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845B"/>
                </a:solidFill>
                <a:latin typeface="Microsoft YaHei"/>
                <a:ea typeface="Microsoft YaHei"/>
                <a:cs typeface="Microsoft YaHei"/>
              </a:rPr>
              <a:t>证据链</a:t>
            </a:r>
          </a:p>
          <a:p xmlns:a="http://schemas.openxmlformats.org/drawingml/2006/main">
            <a:pPr algn="ctr">
              <a:defRPr sz="1500" b="1">
                <a:solidFill>
                  <a:srgbClr val="168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845B"/>
                </a:solidFill>
                <a:latin typeface="Microsoft YaHei"/>
                <a:ea typeface="Microsoft YaHei"/>
                <a:cs typeface="Microsoft YaHei"/>
              </a:rPr>
              <a:t>Dashboard / 报告</a:t>
            </a:r>
          </a:p>
          <a:p xmlns:a="http://schemas.openxmlformats.org/drawingml/2006/main">
            <a:pPr algn="ctr">
              <a:defRPr sz="1500" b="1">
                <a:solidFill>
                  <a:srgbClr val="168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845B"/>
                </a:solidFill>
                <a:latin typeface="Microsoft YaHei"/>
                <a:ea typeface="Microsoft YaHei"/>
                <a:cs typeface="Microsoft YaHei"/>
              </a:rPr>
              <a:t>人工复核与台账</a:t>
            </a:r>
          </a:p>
        </p:txBody>
      </p:sp>
      <p:cxnSp>
        <p:nvCxnSpPr>
          <p:cNvPr id="14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496300" y="29527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6845B"/>
            </a:solidFill>
            <a:headEnd type="non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F3A4DE-E5E7-4418-87FF-B353CEDB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957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确定性场景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DCD446-BA15-40AA-B8F9-F0EA020F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4386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11430">
            <a:solidFill>
              <a:srgbClr val="1E5AA8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规则先行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9E68B3-0986-4B88-AA4A-7478FDE3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958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5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5738A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108F61-6A27-4A62-9D1D-A8B3FD4C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4386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3"/>
          </a:solidFill>
          <a:ln xmlns:a="http://schemas.openxmlformats.org/drawingml/2006/main" w="11430">
            <a:solidFill>
              <a:srgbClr val="0E8A88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8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E8A88"/>
                </a:solidFill>
                <a:latin typeface="Microsoft YaHei"/>
                <a:ea typeface="Microsoft YaHei"/>
                <a:cs typeface="Microsoft YaHei"/>
              </a:rPr>
              <a:t>AI 兜底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65391D-4884-4B2C-8821-422A5856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957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E8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8A88"/>
                </a:solidFill>
                <a:latin typeface="Microsoft YaHei"/>
                <a:ea typeface="Microsoft YaHei"/>
                <a:cs typeface="Microsoft YaHei"/>
              </a:rPr>
              <a:t>复杂语义差异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F223E0-6E32-4A48-877E-E48B785D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361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6B"/>
          </a:solidFill>
          <a:ln xmlns:a="http://schemas.openxmlformats.org/drawingml/2006/main" w="11430">
            <a:solidFill>
              <a:srgbClr val="0B2F6B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不是关键词搜索，也不是 AI 黑盒结论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DC5366-39E3-48BE-A59F-1A004958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334000"/>
            <a:ext cx="74009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E8A88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上游 Patch  +  本地文件  +  精确行号  +  代码证据  +  建议动作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9325F9-356F-4D87-9740-433EFBA0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0"/>
            <a:ext cx="1104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38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5738A"/>
                </a:solidFill>
                <a:latin typeface="Arial"/>
                <a:ea typeface="Arial"/>
                <a:cs typeface="Arial"/>
              </a:rPr>
              <a:t>GaussDB Driver Quality Radar · architecture reconstructed as editable native PowerPoint objects</a:t>
            </a:r>
          </a:p>
        </p:txBody>
      </p:sp>
    </p:spTree>
    <p:extLst>
      <p:ext uri="{BB962C8B-B14F-4D97-AF65-F5344CB8AC3E}">
        <p14:creationId xmlns:p14="http://schemas.microsoft.com/office/powerpoint/2010/main" val="2631410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F8595009-8F28-4578-A912-F0ADC03C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6CD1BCD3-5CE1-4C88-8C7F-55981660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-7">
            <a:extLst xmlns:a="http://schemas.openxmlformats.org/drawingml/2006/main">
              <a:ext uri="{FF2B5EF4-FFF2-40B4-BE49-F238E27FC236}">
                <a16:creationId xmlns:a16="http://schemas.microsoft.com/office/drawing/2014/main" id="{EBB5D1C0-219F-4AD1-B443-627E3D56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66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A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-7">
            <a:extLst xmlns:a="http://schemas.openxmlformats.org/drawingml/2006/main">
              <a:ext uri="{FF2B5EF4-FFF2-40B4-BE49-F238E27FC236}">
                <a16:creationId xmlns:a16="http://schemas.microsoft.com/office/drawing/2014/main" id="{69F51CF2-7103-4EA1-B717-A2ED1CE6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8A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E8A88"/>
                </a:solidFill>
                <a:latin typeface="Arial"/>
                <a:ea typeface="Arial"/>
                <a:cs typeface="Arial"/>
              </a:rPr>
              <a:t>产品证据</a:t>
            </a:r>
          </a:p>
        </p:txBody>
      </p:sp>
      <p:sp>
        <p:nvSpPr>
          <p:cNvPr id="5" name="slide-title-7">
            <a:extLst xmlns:a="http://schemas.openxmlformats.org/drawingml/2006/main">
              <a:ext uri="{FF2B5EF4-FFF2-40B4-BE49-F238E27FC236}">
                <a16:creationId xmlns:a16="http://schemas.microsoft.com/office/drawing/2014/main" id="{83A5C583-C412-4A1D-B376-0FB7D665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287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Dashboard 把上游 PR 列表变成可筛选风险台账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1DE7E1-7D3E-406A-9ADD-E81DA909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66800"/>
            <a:ext cx="1104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38A"/>
                </a:solidFill>
                <a:latin typeface="Microsoft YaHei"/>
                <a:ea typeface="Microsoft YaHei"/>
                <a:cs typeface="Microsoft YaHei"/>
              </a:rPr>
              <a:t>真实界面保留为截图；指标、标签和说明均为可编辑 PowerPoint 元素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E8D446-9EFF-4A62-ADD7-16176942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287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54EFC7-BF29-4465-B9BF-291A1D7F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82391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6E4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d5778fca9c4d72"/>
          <a:stretch xmlns:a="http://schemas.openxmlformats.org/drawingml/2006/main"/>
        </p:blipFill>
        <p:spPr>
          <a:xfrm xmlns:a="http://schemas.openxmlformats.org/drawingml/2006/main">
            <a:off x="591079" y="1828800"/>
            <a:ext cx="7857067" cy="38671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5EB60D-541B-4E4C-9CE9-4CA6B4C2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14500"/>
            <a:ext cx="1047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11430">
            <a:solidFill>
              <a:srgbClr val="0B2F6B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104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950DF6-DC78-4847-A56E-03B64EF3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828800"/>
            <a:ext cx="1571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上游 merged PR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B30E4F-2CE4-465D-B31A-A9480F94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67000"/>
            <a:ext cx="1047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3"/>
          </a:solidFill>
          <a:ln xmlns:a="http://schemas.openxmlformats.org/drawingml/2006/main" w="11430">
            <a:solidFill>
              <a:srgbClr val="0E8A88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E8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E8A8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BDD1C3-5CCD-4465-B761-D9E532A5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781300"/>
            <a:ext cx="1571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已完成分析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9E3EB5-91F2-4EC4-991B-052CB272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19500"/>
            <a:ext cx="1047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BEC"/>
          </a:solidFill>
          <a:ln xmlns:a="http://schemas.openxmlformats.org/drawingml/2006/main" w="11430">
            <a:solidFill>
              <a:srgbClr val="C62828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62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C62828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75CD20-EAA1-4A8C-A864-6173E196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733800"/>
            <a:ext cx="1571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HIGH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E4B1A-4F33-455B-B97A-B2607124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72000"/>
            <a:ext cx="1047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11430">
            <a:solidFill>
              <a:srgbClr val="A66A00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A66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A66A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F775B9-45E2-4ACC-8D9B-8D506380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686300"/>
            <a:ext cx="1571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MEDIUM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46DE23-23F5-4AB3-9C00-0A6EF3B4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61975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6B"/>
          </a:solidFill>
          <a:ln xmlns:a="http://schemas.openxmlformats.org/drawingml/2006/main" w="11430">
            <a:solidFill>
              <a:srgbClr val="0B2F6B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 列表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6BEC79-44CD-43BF-8B5B-4C526A82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61975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A88"/>
          </a:solidFill>
          <a:ln xmlns:a="http://schemas.openxmlformats.org/drawingml/2006/main" w="11430">
            <a:solidFill>
              <a:srgbClr val="0E8A88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风险筛选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3B4127-7795-4EAE-A1FE-F5AD3F76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61975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45B"/>
          </a:solidFill>
          <a:ln xmlns:a="http://schemas.openxmlformats.org/drawingml/2006/main" w="11430">
            <a:solidFill>
              <a:srgbClr val="16845B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证据详情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4162F4-89DD-48B0-A69F-CC7208C5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11505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38A"/>
                </a:solidFill>
                <a:latin typeface="Microsoft YaHei"/>
                <a:ea typeface="Microsoft YaHei"/>
                <a:cs typeface="Microsoft YaHei"/>
              </a:rPr>
              <a:t>风险等级是待复核线索，不直接等同于最终确认缺陷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C26AA9-79BD-45D2-A03F-88A04469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11287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B6DBE2-2A30-4B0E-96B8-0403B17B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72250"/>
            <a:ext cx="1104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38A"/>
                </a:solidFill>
                <a:latin typeface="Microsoft YaHei"/>
                <a:ea typeface="Microsoft YaHei"/>
                <a:cs typeface="Microsoft YaHei"/>
              </a:rPr>
              <a:t>Source: local GaussDB Driver Quality Radar dashboard screenshot (pr1.png)</a:t>
            </a:r>
          </a:p>
        </p:txBody>
      </p:sp>
    </p:spTree>
    <p:extLst>
      <p:ext uri="{BB962C8B-B14F-4D97-AF65-F5344CB8AC3E}">
        <p14:creationId xmlns:p14="http://schemas.microsoft.com/office/powerpoint/2010/main" val="181305323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848A9826-8691-4ADC-B42B-6CE03F56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B2556AEA-9696-4C7F-B849-898F535A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-8">
            <a:extLst xmlns:a="http://schemas.openxmlformats.org/drawingml/2006/main">
              <a:ext uri="{FF2B5EF4-FFF2-40B4-BE49-F238E27FC236}">
                <a16:creationId xmlns:a16="http://schemas.microsoft.com/office/drawing/2014/main" id="{28B02587-AD57-4D7C-9C96-F3B03DC9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66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A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-8">
            <a:extLst xmlns:a="http://schemas.openxmlformats.org/drawingml/2006/main">
              <a:ext uri="{FF2B5EF4-FFF2-40B4-BE49-F238E27FC236}">
                <a16:creationId xmlns:a16="http://schemas.microsoft.com/office/drawing/2014/main" id="{EB70991E-7423-493E-8275-88C628B9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8A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E8A88"/>
                </a:solidFill>
                <a:latin typeface="Arial"/>
                <a:ea typeface="Arial"/>
                <a:cs typeface="Arial"/>
              </a:rPr>
              <a:t>量化收益</a:t>
            </a:r>
          </a:p>
        </p:txBody>
      </p:sp>
      <p:sp>
        <p:nvSpPr>
          <p:cNvPr id="5" name="slide-title-8">
            <a:extLst xmlns:a="http://schemas.openxmlformats.org/drawingml/2006/main">
              <a:ext uri="{FF2B5EF4-FFF2-40B4-BE49-F238E27FC236}">
                <a16:creationId xmlns:a16="http://schemas.microsoft.com/office/drawing/2014/main" id="{CBCE0D82-92DF-4E9E-9819-904DBB11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287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自动化把时间从搜索整理前移到复核与决策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6A47AA-F010-4D6D-ACFD-D2CCDC9B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66800"/>
            <a:ext cx="1104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38A"/>
                </a:solidFill>
                <a:latin typeface="Microsoft YaHei"/>
                <a:ea typeface="Microsoft YaHei"/>
                <a:cs typeface="Microsoft YaHei"/>
              </a:rPr>
              <a:t>时间数字来自 Demo 试运行与典型流程估算，用于说明量级而非承诺 SLA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B556AA-8248-4E7F-BAC6-ADB4F1AC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287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B5844C-9425-44F6-A9F5-FF4192EB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573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单 PR 初筛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615D5E-DA1A-4B64-AFCF-6E4C57DC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人工分析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EE908F-E324-42E6-9FED-2E4DEE05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1717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2FC710-4891-4540-AF1E-180BC06F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904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2F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F6B"/>
                </a:solidFill>
                <a:latin typeface="Arial"/>
                <a:ea typeface="Arial"/>
                <a:cs typeface="Arial"/>
              </a:rPr>
              <a:t>3–8 min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08E722-FD77-4E56-8857-8BEEDC6F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规则命中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79B920-5560-453E-8D5F-CA2464B5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479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09C8DA-B70F-4FDD-AB5E-59369491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571750"/>
            <a:ext cx="904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5AA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E5AA8"/>
                </a:solidFill>
                <a:latin typeface="Arial"/>
                <a:ea typeface="Arial"/>
                <a:cs typeface="Arial"/>
              </a:rPr>
              <a:t>5–15 sec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782534-CF18-4993-A9E4-D57BC571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4800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含 AI 分析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FECF84-4FEC-4A0B-AD57-7B3A8059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242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A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88925A-9F10-4F6E-9C7B-6F34239E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048000"/>
            <a:ext cx="904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8A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E8A88"/>
                </a:solidFill>
                <a:latin typeface="Arial"/>
                <a:ea typeface="Arial"/>
                <a:cs typeface="Arial"/>
              </a:rPr>
              <a:t>30–90 sec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225854-7826-45F4-B98D-59D056FF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147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批量处理 100 个 PR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DF0FBE-4CC2-4999-B1F3-FD572A76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7195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人工处理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076F77-941B-41CD-8383-71344430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24815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4F0861-7898-4770-A93C-1B69DEA2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71950"/>
            <a:ext cx="904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2F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F6B"/>
                </a:solidFill>
                <a:latin typeface="Arial"/>
                <a:ea typeface="Arial"/>
                <a:cs typeface="Arial"/>
              </a:rPr>
              <a:t>6–16 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CDDA11-F115-4A33-B557-6957C7DF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4820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平台后台初筛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0D8CA6-C652-46F9-BCCE-993D5978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7244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A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181DE9-3C3C-4AE0-97B2-5DE88605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648200"/>
            <a:ext cx="904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8A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E8A88"/>
                </a:solidFill>
                <a:latin typeface="Arial"/>
                <a:ea typeface="Arial"/>
                <a:cs typeface="Arial"/>
              </a:rPr>
              <a:t>30–90 min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CEA639-FE8B-4CF0-9D97-6C247E84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34000"/>
            <a:ext cx="4476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6B"/>
          </a:solidFill>
          <a:ln xmlns:a="http://schemas.openxmlformats.org/drawingml/2006/main" w="11430">
            <a:solidFill>
              <a:srgbClr val="0B2F6B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核心收益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少搜索 · 少整理 · 多复核 · 快决策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30783B-BD60-4AA2-ABAE-085DD6B0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14500"/>
            <a:ext cx="625792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6E4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a927a5703f4a98"/>
          <a:stretch xmlns:a="http://schemas.openxmlformats.org/drawingml/2006/main"/>
        </p:blipFill>
        <p:spPr>
          <a:xfrm xmlns:a="http://schemas.openxmlformats.org/drawingml/2006/main">
            <a:off x="5543550" y="1921408"/>
            <a:ext cx="6029325" cy="2967558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A2583F-D53B-40EB-8395-0D0F7F3A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314950"/>
            <a:ext cx="723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3"/>
          </a:solidFill>
          <a:ln xmlns:a="http://schemas.openxmlformats.org/drawingml/2006/main" w="11430">
            <a:solidFill>
              <a:srgbClr val="0E8A88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E8A8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8A8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A3A204-D3E4-49F0-A079-95F1D2A6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2925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已分析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B34D91-2FD3-4CEB-9AAF-676EF638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314950"/>
            <a:ext cx="723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BEC"/>
          </a:solidFill>
          <a:ln xmlns:a="http://schemas.openxmlformats.org/drawingml/2006/main" w="11430">
            <a:solidFill>
              <a:srgbClr val="C62828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6282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879F8C-27C1-46DD-8B56-212A6978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42925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高风险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3AEAD2-DF7A-4CC7-B84F-69FDF4D5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314950"/>
            <a:ext cx="723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3"/>
          </a:solidFill>
          <a:ln xmlns:a="http://schemas.openxmlformats.org/drawingml/2006/main" w="11430">
            <a:solidFill>
              <a:srgbClr val="0E8A88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E8A8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8A8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804829-8916-4559-AE94-DBF9EB53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42925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建议复核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4A0211-0410-47D5-A4BF-3DDB2EDA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314950"/>
            <a:ext cx="723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3"/>
          </a:solidFill>
          <a:ln xmlns:a="http://schemas.openxmlformats.org/drawingml/2006/main" w="11430">
            <a:solidFill>
              <a:srgbClr val="0E8A88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E8A8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8A8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68BA86-5FA4-4408-ABD2-843BA2C0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542925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命中文件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B93102-931A-48BE-8CB2-4FCA279D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11287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FD96C79-743B-4342-B237-71FEFDD2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72250"/>
            <a:ext cx="1104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38A"/>
                </a:solidFill>
                <a:latin typeface="Microsoft YaHei"/>
                <a:ea typeface="Microsoft YaHei"/>
                <a:cs typeface="Microsoft YaHei"/>
              </a:rPr>
              <a:t>Source: local report-center screenshot (pr5.png); timing ranges from award.md / demo workflow estimates</a:t>
            </a:r>
          </a:p>
        </p:txBody>
      </p:sp>
    </p:spTree>
    <p:extLst>
      <p:ext uri="{BB962C8B-B14F-4D97-AF65-F5344CB8AC3E}">
        <p14:creationId xmlns:p14="http://schemas.microsoft.com/office/powerpoint/2010/main" val="160468259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2B2101BC-3FB8-422A-A576-6764D8FB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C8F1F71D-3C70-4F0C-835C-5719EE83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-9">
            <a:extLst xmlns:a="http://schemas.openxmlformats.org/drawingml/2006/main">
              <a:ext uri="{FF2B5EF4-FFF2-40B4-BE49-F238E27FC236}">
                <a16:creationId xmlns:a16="http://schemas.microsoft.com/office/drawing/2014/main" id="{ABA268C4-EF74-47DF-AB78-D3B2AE90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66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A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-9">
            <a:extLst xmlns:a="http://schemas.openxmlformats.org/drawingml/2006/main">
              <a:ext uri="{FF2B5EF4-FFF2-40B4-BE49-F238E27FC236}">
                <a16:creationId xmlns:a16="http://schemas.microsoft.com/office/drawing/2014/main" id="{689D6A0C-7D69-4F93-95BD-A3219547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8A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E8A88"/>
                </a:solidFill>
                <a:latin typeface="Arial"/>
                <a:ea typeface="Arial"/>
                <a:cs typeface="Arial"/>
              </a:rPr>
              <a:t>规模化</a:t>
            </a:r>
          </a:p>
        </p:txBody>
      </p:sp>
      <p:sp>
        <p:nvSpPr>
          <p:cNvPr id="5" name="slide-title-9">
            <a:extLst xmlns:a="http://schemas.openxmlformats.org/drawingml/2006/main">
              <a:ext uri="{FF2B5EF4-FFF2-40B4-BE49-F238E27FC236}">
                <a16:creationId xmlns:a16="http://schemas.microsoft.com/office/drawing/2014/main" id="{AEEA6750-9797-4EE6-9FA9-776D87BC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287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个人 Skill 可以演进为团队持续质量机制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FA8ED9-59D1-4596-A524-866DCF7D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66800"/>
            <a:ext cx="1104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38A"/>
                </a:solidFill>
                <a:latin typeface="Microsoft YaHei"/>
                <a:ea typeface="Microsoft YaHei"/>
                <a:cs typeface="Microsoft YaHei"/>
              </a:rPr>
              <a:t>扩展对象、信号源和治理节奏，而不是复制一套固定脚本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85563E-6F86-4B50-9F45-C1B9D6C7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287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F0F0C2-783C-4403-8E33-E3B98C58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57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8A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8A8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ABEC03-689E-4CA7-8714-FABE86F8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1524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11430">
            <a:solidFill>
              <a:srgbClr val="1E5AA8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个人实践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ODBC Skill</a:t>
            </a:r>
          </a:p>
          <a:p xmlns:a="http://schemas.openxmlformats.org/drawingml/2006/main">
            <a:pPr algn="ctr">
              <a:defRPr sz="135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单函数 / 单分支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4CDA85-52B9-46E9-A010-BC0E9417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809750"/>
            <a:ext cx="57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8A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8A8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04A6F6-B58D-486F-A2A5-E2780BC5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190750"/>
            <a:ext cx="1524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E5AA8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场景扩展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JDBC · libpq</a:t>
            </a:r>
          </a:p>
          <a:p xmlns:a="http://schemas.openxmlformats.org/drawingml/2006/main">
            <a:pPr algn="ctr">
              <a:defRPr sz="135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客户端工具</a:t>
            </a:r>
          </a:p>
        </p:txBody>
      </p:sp>
      <p:cxnSp>
        <p:nvCxnSpPr>
          <p:cNvPr id="12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924050" y="29527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E5AA8"/>
            </a:solidFill>
            <a:headEnd type="non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5DF3AE-AE6B-4645-922C-40A83BA2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809750"/>
            <a:ext cx="57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8A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8A8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F0F09A-24DC-4C4F-96D0-DA784BC6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190750"/>
            <a:ext cx="1524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E5AA8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团队机制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每周扫描</a:t>
            </a:r>
          </a:p>
          <a:p xmlns:a="http://schemas.openxmlformats.org/drawingml/2006/main">
            <a:pPr algn="ctr">
              <a:defRPr sz="135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GA 前风险报告</a:t>
            </a:r>
          </a:p>
        </p:txBody>
      </p:sp>
      <p:cxnSp>
        <p:nvCxnSpPr>
          <p:cNvPr id="15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733800" y="29527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E5AA8"/>
            </a:solidFill>
            <a:headEnd type="non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F2FD97-40BD-4F1F-9B36-67FDCB9D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09750"/>
            <a:ext cx="57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8A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8A8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3A0D9B-669A-4549-8C17-60D96779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190750"/>
            <a:ext cx="1524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EF"/>
          </a:solidFill>
          <a:ln xmlns:a="http://schemas.openxmlformats.org/drawingml/2006/main" w="11430">
            <a:solidFill>
              <a:srgbClr val="16845B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持续预警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缺陷模式库</a:t>
            </a:r>
          </a:p>
          <a:p xmlns:a="http://schemas.openxmlformats.org/drawingml/2006/main">
            <a:pPr algn="ctr">
              <a:defRPr sz="135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测试建议库</a:t>
            </a:r>
          </a:p>
        </p:txBody>
      </p:sp>
      <p:cxnSp>
        <p:nvCxnSpPr>
          <p:cNvPr id="18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543550" y="29527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6845B"/>
            </a:solidFill>
            <a:headEnd type="non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D6C78E-D620-4582-8087-80F19486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6B"/>
          </a:solidFill>
          <a:ln xmlns:a="http://schemas.openxmlformats.org/drawingml/2006/main" w="11430">
            <a:solidFill>
              <a:srgbClr val="0B2F6B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信号扩展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850786-3DA5-4DEE-9DB0-766C3F43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9575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6E4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merged PR  →  issue / release note  →  CVE / 安全公告  →  邮件列表补丁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3B3CB5-4A4D-43D5-95CD-D516DA5E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14875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A88"/>
          </a:solidFill>
          <a:ln xmlns:a="http://schemas.openxmlformats.org/drawingml/2006/main" w="11430">
            <a:solidFill>
              <a:srgbClr val="0E8A88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内网落地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C047CD-40E1-49A7-9CCB-5D334C24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714875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3"/>
          </a:solidFill>
          <a:ln xmlns:a="http://schemas.openxmlformats.org/drawingml/2006/main" w="11430">
            <a:solidFill>
              <a:srgbClr val="CCD6E4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E8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E8A88"/>
                </a:solidFill>
                <a:latin typeface="Microsoft YaHei"/>
                <a:ea typeface="Microsoft YaHei"/>
                <a:cs typeface="Microsoft YaHei"/>
              </a:rPr>
              <a:t>多模型  ·  代理  ·  Token 脱敏  ·  ClaudeCode 导入  ·  本地部署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8F76A2-6FD3-4864-9C55-305CB781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81625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B2F6B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近期：选 1 个驱动仓试点</a:t>
            </a:r>
          </a:p>
          <a:p xmlns:a="http://schemas.openxmlformats.org/drawingml/2006/main">
            <a:pPr algn="ctr">
              <a:defRPr sz="135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中期：固化周报与 GA 前报告</a:t>
            </a:r>
          </a:p>
          <a:p xmlns:a="http://schemas.openxmlformats.org/drawingml/2006/main">
            <a:pPr algn="ctr">
              <a:defRPr sz="135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长期：形成持续预警与模式库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BA27E5-D088-4F7B-97AB-83599598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19250"/>
            <a:ext cx="3733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6B"/>
          </a:solidFill>
          <a:ln xmlns:a="http://schemas.openxmlformats.org/drawingml/2006/main" w="11430">
            <a:solidFill>
              <a:srgbClr val="0B2F6B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内网配置基础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9B3972-4CD1-406B-AA4B-6859A8FB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19300"/>
            <a:ext cx="373380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6E4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b74e2dd03e498a"/>
          <a:stretch xmlns:a="http://schemas.openxmlformats.org/drawingml/2006/main"/>
        </p:blipFill>
        <p:spPr>
          <a:xfrm xmlns:a="http://schemas.openxmlformats.org/drawingml/2006/main">
            <a:off x="8800892" y="2133600"/>
            <a:ext cx="2038767" cy="4010025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D642BE-311B-4B2C-AD34-24427BD5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11287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B48176-612E-43B5-B5A8-CBDE194B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72250"/>
            <a:ext cx="1104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38A"/>
                </a:solidFill>
                <a:latin typeface="Microsoft YaHei"/>
                <a:ea typeface="Microsoft YaHei"/>
                <a:cs typeface="Microsoft YaHei"/>
              </a:rPr>
              <a:t>Source: local configuration screenshot (pr9.png); secrets must remain redacted</a:t>
            </a:r>
          </a:p>
        </p:txBody>
      </p:sp>
    </p:spTree>
    <p:extLst>
      <p:ext uri="{BB962C8B-B14F-4D97-AF65-F5344CB8AC3E}">
        <p14:creationId xmlns:p14="http://schemas.microsoft.com/office/powerpoint/2010/main" val="820848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57D2F5C6-C9F3-4AB6-AD7B-B2F832AD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CA170471-09FF-4DF7-82F9-950EC68E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-10">
            <a:extLst xmlns:a="http://schemas.openxmlformats.org/drawingml/2006/main">
              <a:ext uri="{FF2B5EF4-FFF2-40B4-BE49-F238E27FC236}">
                <a16:creationId xmlns:a16="http://schemas.microsoft.com/office/drawing/2014/main" id="{4A87D610-DF48-4DEF-AE7A-6A0D935E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66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A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-10">
            <a:extLst xmlns:a="http://schemas.openxmlformats.org/drawingml/2006/main">
              <a:ext uri="{FF2B5EF4-FFF2-40B4-BE49-F238E27FC236}">
                <a16:creationId xmlns:a16="http://schemas.microsoft.com/office/drawing/2014/main" id="{2F56839B-4E03-4785-9553-AC09176C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8A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E8A88"/>
                </a:solidFill>
                <a:latin typeface="Arial"/>
                <a:ea typeface="Arial"/>
                <a:cs typeface="Arial"/>
              </a:rPr>
              <a:t>收束</a:t>
            </a:r>
          </a:p>
        </p:txBody>
      </p:sp>
      <p:sp>
        <p:nvSpPr>
          <p:cNvPr id="5" name="slide-title-10">
            <a:extLst xmlns:a="http://schemas.openxmlformats.org/drawingml/2006/main">
              <a:ext uri="{FF2B5EF4-FFF2-40B4-BE49-F238E27FC236}">
                <a16:creationId xmlns:a16="http://schemas.microsoft.com/office/drawing/2014/main" id="{8B6D7C7F-51B2-46A5-9D20-21FD4C34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287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真正可复制的是质量闭环，而不是某一个 Bug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D7F4A7-AF3C-4C8D-A7AD-9A9AA60D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66800"/>
            <a:ext cx="1104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38A"/>
                </a:solidFill>
                <a:latin typeface="Microsoft YaHei"/>
                <a:ea typeface="Microsoft YaHei"/>
                <a:cs typeface="Microsoft YaHei"/>
              </a:rPr>
              <a:t>从个人实践到团队机制，AI 的角色是质量情报分析员和证据链整理员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84F023-34E0-4214-A6E0-D2545151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287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E7197F-B3FD-4AE1-93B7-81A82CD9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495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5A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E5AA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32CD33-1F46-43A6-8EF2-9EEC2ABE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17145">
            <a:solidFill>
              <a:srgbClr val="1E5AA8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AI 辅助 DT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用真实覆盖率挖出真实驱动问题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6FE111-15ED-421C-BF88-EC497560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762125"/>
            <a:ext cx="495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84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845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EF44AD-B786-438B-816A-4DBE226E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43125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EF"/>
          </a:solidFill>
          <a:ln xmlns:a="http://schemas.openxmlformats.org/drawingml/2006/main" w="17145">
            <a:solidFill>
              <a:srgbClr val="16845B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8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845B"/>
                </a:solidFill>
                <a:latin typeface="Microsoft YaHei"/>
                <a:ea typeface="Microsoft YaHei"/>
                <a:cs typeface="Microsoft YaHei"/>
              </a:rPr>
              <a:t>社区贡献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168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845B"/>
                </a:solidFill>
                <a:latin typeface="Microsoft YaHei"/>
                <a:ea typeface="Microsoft YaHei"/>
                <a:cs typeface="Microsoft YaHei"/>
              </a:rPr>
              <a:t>11 个上游 Bug Fix 被合入</a:t>
            </a:r>
          </a:p>
        </p:txBody>
      </p:sp>
      <p:cxnSp>
        <p:nvCxnSpPr>
          <p:cNvPr id="12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781300" y="29527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6845B"/>
            </a:solidFill>
            <a:headEnd type="non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A0428C-CD28-46C0-B9CE-75AE44D3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62125"/>
            <a:ext cx="495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E8A8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E8A8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90A3FB-72B8-481B-84A7-5855B792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43125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3"/>
          </a:solidFill>
          <a:ln xmlns:a="http://schemas.openxmlformats.org/drawingml/2006/main" w="17145">
            <a:solidFill>
              <a:srgbClr val="0E8A88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E8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E8A88"/>
                </a:solidFill>
                <a:latin typeface="Microsoft YaHei"/>
                <a:ea typeface="Microsoft YaHei"/>
                <a:cs typeface="Microsoft YaHei"/>
              </a:rPr>
              <a:t>风险雷达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0E8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E8A88"/>
                </a:solidFill>
                <a:latin typeface="Microsoft YaHei"/>
                <a:ea typeface="Microsoft YaHei"/>
                <a:cs typeface="Microsoft YaHei"/>
              </a:rPr>
              <a:t>社区修复经验反向服务 GaussDB</a:t>
            </a:r>
          </a:p>
        </p:txBody>
      </p:sp>
      <p:cxnSp>
        <p:nvCxnSpPr>
          <p:cNvPr id="15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638800" y="29527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8A88"/>
            </a:solidFill>
            <a:headEnd type="non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AD7745-EAB8-46A4-995C-B4F1EEF8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62125"/>
            <a:ext cx="495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2F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2F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578A74-9BAA-4305-BFB7-551A617C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43125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B2F6B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团队机制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少搜索 · 多判断 · 快闭环</a:t>
            </a:r>
          </a:p>
        </p:txBody>
      </p:sp>
      <p:cxnSp>
        <p:nvCxnSpPr>
          <p:cNvPr id="18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496300" y="29527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B2F6B"/>
            </a:solidFill>
            <a:headEnd type="none" w="med" len="med"/>
          </a:ln>
        </p:spPr>
      </p:cxnSp>
      <p:cxnSp>
        <p:nvCxnSpPr>
          <p:cNvPr id="19" name=""/>
          <p:cNvCxnSpPr>
            <a:stCxn xmlns:a="http://schemas.openxmlformats.org/drawingml/2006/main" id="17" idx="2"/>
            <a:endCxn xmlns:a="http://schemas.openxmlformats.org/drawingml/2006/main" id="9" idx="2"/>
          </p:cNvCxnSpPr>
          <p:nvPr/>
        </p:nvCxnSpPr>
        <p:spPr>
          <a:xfrm xmlns:a="http://schemas.openxmlformats.org/drawingml/2006/main" flipH="1">
            <a:off x="1590675" y="3762375"/>
            <a:ext cx="8572500" cy="228600"/>
          </a:xfrm>
          <a:prstGeom xmlns:a="http://schemas.openxmlformats.org/drawingml/2006/main" prst="bentConnector4">
            <a:avLst/>
          </a:prstGeom>
          <a:ln xmlns:a="http://schemas.openxmlformats.org/drawingml/2006/main" w="17145">
            <a:solidFill>
              <a:srgbClr val="0E8A88"/>
            </a:solidFill>
            <a:headEnd type="none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F6CE56-8CEF-400B-BE14-9999FB0E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00050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8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8A88"/>
                </a:solidFill>
                <a:latin typeface="Microsoft YaHei"/>
                <a:ea typeface="Microsoft YaHei"/>
                <a:cs typeface="Microsoft YaHei"/>
              </a:rPr>
              <a:t>经验沉淀与持续反馈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6E139C-6316-45B5-8334-1DEF8E38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6B"/>
          </a:solidFill>
          <a:ln xmlns:a="http://schemas.openxmlformats.org/drawingml/2006/main" w="11430">
            <a:solidFill>
              <a:srgbClr val="0B2F6B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团队下一步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9855FA-0D2B-4DDE-9A66-6E9AC6FD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62500"/>
            <a:ext cx="2762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11430">
            <a:solidFill>
              <a:srgbClr val="1E5AA8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选定试点仓</a:t>
            </a:r>
          </a:p>
          <a:p xmlns:a="http://schemas.openxmlformats.org/drawingml/2006/main">
            <a:pPr algn="ctr">
              <a:defRPr sz="1575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复用 Skill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503A86-0CAB-4C83-8DE8-835200B7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762500"/>
            <a:ext cx="2762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3"/>
          </a:solidFill>
          <a:ln xmlns:a="http://schemas.openxmlformats.org/drawingml/2006/main" w="11430">
            <a:solidFill>
              <a:srgbClr val="0E8A88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E8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E8A88"/>
                </a:solidFill>
                <a:latin typeface="Microsoft YaHei"/>
                <a:ea typeface="Microsoft YaHei"/>
                <a:cs typeface="Microsoft YaHei"/>
              </a:rPr>
              <a:t>每周扫描</a:t>
            </a:r>
          </a:p>
          <a:p xmlns:a="http://schemas.openxmlformats.org/drawingml/2006/main">
            <a:pPr algn="ctr">
              <a:defRPr sz="1575" b="1">
                <a:solidFill>
                  <a:srgbClr val="0E8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E8A88"/>
                </a:solidFill>
                <a:latin typeface="Microsoft YaHei"/>
                <a:ea typeface="Microsoft YaHei"/>
                <a:cs typeface="Microsoft YaHei"/>
              </a:rPr>
              <a:t>沉淀风险台账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DBD21E-284F-4B19-8160-72994330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62500"/>
            <a:ext cx="3495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EF"/>
          </a:solidFill>
          <a:ln xmlns:a="http://schemas.openxmlformats.org/drawingml/2006/main" w="11430">
            <a:solidFill>
              <a:srgbClr val="16845B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8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845B"/>
                </a:solidFill>
                <a:latin typeface="Microsoft YaHei"/>
                <a:ea typeface="Microsoft YaHei"/>
                <a:cs typeface="Microsoft YaHei"/>
              </a:rPr>
              <a:t>GA 前复核</a:t>
            </a:r>
          </a:p>
          <a:p xmlns:a="http://schemas.openxmlformats.org/drawingml/2006/main">
            <a:pPr algn="ctr">
              <a:defRPr sz="1575" b="1">
                <a:solidFill>
                  <a:srgbClr val="168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845B"/>
                </a:solidFill>
                <a:latin typeface="Microsoft YaHei"/>
                <a:ea typeface="Microsoft YaHei"/>
                <a:cs typeface="Microsoft YaHei"/>
              </a:rPr>
              <a:t>形成质量报告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D2C67D-8CFE-4322-83B7-A627B74D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1287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2F6B"/>
                </a:solidFill>
                <a:latin typeface="Microsoft YaHei"/>
                <a:ea typeface="Microsoft YaHei"/>
                <a:cs typeface="Microsoft YaHei"/>
              </a:rPr>
              <a:t>AI 辅助驱动质量闭环</a:t>
            </a:r>
          </a:p>
        </p:txBody>
      </p:sp>
    </p:spTree>
    <p:extLst>
      <p:ext uri="{BB962C8B-B14F-4D97-AF65-F5344CB8AC3E}">
        <p14:creationId xmlns:p14="http://schemas.microsoft.com/office/powerpoint/2010/main" val="15498416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2026-06-27T02:41:42.6350000Z</dcterms:created>
  <dcterms:modified xsi:type="dcterms:W3CDTF">2026-06-27T02:41:42.6350000Z</dcterms:modified>
</coreProperties>
</file>